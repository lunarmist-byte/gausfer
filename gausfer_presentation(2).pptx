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72" r:id="rId3"/>
    <p:sldId id="258" r:id="rId4"/>
    <p:sldId id="259" r:id="rId5"/>
    <p:sldId id="273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60" r:id="rId16"/>
    <p:sldId id="261" r:id="rId17"/>
    <p:sldId id="262" r:id="rId18"/>
    <p:sldId id="285" r:id="rId19"/>
    <p:sldId id="286" r:id="rId20"/>
    <p:sldId id="270" r:id="rId21"/>
    <p:sldId id="287" r:id="rId22"/>
    <p:sldId id="288" r:id="rId23"/>
    <p:sldId id="289" r:id="rId24"/>
    <p:sldId id="290" r:id="rId25"/>
    <p:sldId id="291" r:id="rId26"/>
    <p:sldId id="292" r:id="rId27"/>
    <p:sldId id="296" r:id="rId28"/>
    <p:sldId id="297" r:id="rId29"/>
    <p:sldId id="298" r:id="rId30"/>
    <p:sldId id="299" r:id="rId31"/>
    <p:sldId id="267" r:id="rId32"/>
    <p:sldId id="301" r:id="rId33"/>
    <p:sldId id="300" r:id="rId34"/>
    <p:sldId id="269" r:id="rId35"/>
    <p:sldId id="293" r:id="rId36"/>
    <p:sldId id="294" r:id="rId37"/>
    <p:sldId id="30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0A053-59E8-7DD0-1EA6-E63EF4EEA973}" v="17" dt="2026-04-15T12:55:18.108"/>
    <p1510:client id="{0BC0774E-AE57-F575-37BA-6A3C85F23B5F}" v="3" dt="2026-04-15T12:43:11.649"/>
    <p1510:client id="{2163628A-17E3-8256-F115-616E05B34E0E}" v="101" dt="2026-04-15T12:43:49.137"/>
    <p1510:client id="{AC9FB032-2B14-6C67-7793-F0A772E41B69}" v="278" dt="2026-04-15T12:19:09.288"/>
    <p1510:client id="{F0A62190-3D25-4BA0-A66A-41FCF8F21BDD}" v="556" dt="2026-04-13T17:27:37.132"/>
    <p1510:client id="{F3562757-3C0C-35D5-0D8F-C47A75126766}" v="319" dt="2026-04-15T12:58:41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BF464-641C-4F3D-AD1F-B5EC4BDA8E1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08D6E-FD76-4DFC-B704-C0B114C4B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1CBCA-4749-4A7A-8F35-CC540E1C6B5E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8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665A0-0B60-42D5-BCF7-5F40D7ACA5F9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58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0EB5C-24B0-450F-BA10-240223805077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2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A611-1EA1-4178-A799-C71D32254BD7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07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0E24-2379-4B94-A09C-98ACE8912CE1}" type="datetime1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93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FA50-5344-4D7F-A2A2-87D3E16227B2}" type="datetime1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C1523-6307-455D-AF13-858842F8AA67}" type="datetime1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54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172E-1B7B-42F2-9031-EB2F4571F67F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05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B8695-1F14-41A2-9ADE-6EE04188C3A1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49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7DE3-A90A-43E0-9823-F1C658A6735A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65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27AA-59BC-4D72-9016-20761E3001B0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45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4CF8-E74F-40FE-8362-EE94E08F6DC1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728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1A3C-B086-4404-98D6-49E89D298979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1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01B9-95AB-42C6-9D24-06C659A3610C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99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4BC9-13ED-44E3-B14B-8E721A85ABC3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70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9DA8-8E4B-4A9A-A9BE-B31957731F6A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81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0A5B-BD28-48CA-82BD-EE31C43E40F1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9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45A5D3-EBEF-4B22-BD3C-15DDC31A9DD5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DF0F45-CB08-4917-81BA-EC915EE6F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7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D067-DD07-6BA4-ED2B-006F9542D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151" y="219076"/>
            <a:ext cx="8574622" cy="1924049"/>
          </a:xfrm>
        </p:spPr>
        <p:txBody>
          <a:bodyPr>
            <a:normAutofit fontScale="90000"/>
          </a:bodyPr>
          <a:lstStyle/>
          <a:p>
            <a:pPr algn="l"/>
            <a:r>
              <a:rPr lang="en-US" b="1">
                <a:latin typeface="Aptos" panose="020B0004020202020204" pitchFamily="34" charset="0"/>
              </a:rPr>
              <a:t>GAUSFER 3D : From Flat Pixels to Immersive Reality</a:t>
            </a:r>
            <a:endParaRPr lang="en-IN" b="1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ADF6A-0DBC-1556-D400-AD26F6F5A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5860" y="2141798"/>
            <a:ext cx="7699654" cy="4020394"/>
          </a:xfrm>
        </p:spPr>
        <p:txBody>
          <a:bodyPr>
            <a:normAutofit/>
          </a:bodyPr>
          <a:lstStyle/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 AND MANAGEMENT PUNNAPRA</a:t>
            </a:r>
          </a:p>
          <a:p>
            <a:pPr algn="l"/>
            <a:endParaRPr lang="en-US" sz="1800" b="1">
              <a:latin typeface="Times New Roman"/>
              <a:cs typeface="Times New Roman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 :5</a:t>
            </a: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 AMAL S KUMAR (06)</a:t>
            </a:r>
          </a:p>
          <a:p>
            <a:pPr algn="l"/>
            <a:r>
              <a:rPr lang="en-US" sz="1800" b="1">
                <a:latin typeface="Times New Roman"/>
                <a:cs typeface="Times New Roman"/>
              </a:rPr>
              <a:t>                                       ALEESHA M (05)</a:t>
            </a:r>
          </a:p>
          <a:p>
            <a:pPr algn="l"/>
            <a:r>
              <a:rPr lang="en-US" sz="1800" b="1">
                <a:latin typeface="Times New Roman"/>
                <a:cs typeface="Times New Roman"/>
              </a:rPr>
              <a:t>                                       AMBILI AMBARAN S (08)</a:t>
            </a:r>
          </a:p>
          <a:p>
            <a:pPr algn="l"/>
            <a:r>
              <a:rPr lang="en-US" sz="1800" b="1">
                <a:latin typeface="Times New Roman"/>
                <a:cs typeface="Times New Roman"/>
              </a:rPr>
              <a:t>                                       ASWIN S TUSHAR (23)</a:t>
            </a:r>
          </a:p>
          <a:p>
            <a:pPr algn="l"/>
            <a:r>
              <a:rPr lang="en-US" sz="1800" b="1">
                <a:latin typeface="Times New Roman"/>
                <a:cs typeface="Times New Roman"/>
              </a:rPr>
              <a:t>          GUIDED BY :     SNEHA S</a:t>
            </a:r>
          </a:p>
          <a:p>
            <a:pPr algn="l"/>
            <a:r>
              <a:rPr lang="en-US" sz="1800" b="1">
                <a:latin typeface="Times New Roman"/>
                <a:cs typeface="Times New Roman"/>
              </a:rPr>
              <a:t>           DATE :               16-04-2026</a:t>
            </a:r>
          </a:p>
          <a:p>
            <a:pPr algn="l"/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ECDA9-6A7E-5274-B352-D22C6FA6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03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797B20-D07E-5060-FB43-5A04741292F3}"/>
              </a:ext>
            </a:extLst>
          </p:cNvPr>
          <p:cNvSpPr txBox="1"/>
          <p:nvPr/>
        </p:nvSpPr>
        <p:spPr>
          <a:xfrm>
            <a:off x="1771651" y="180975"/>
            <a:ext cx="937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32057-5107-8259-0EB7-C5D095AC92DA}"/>
              </a:ext>
            </a:extLst>
          </p:cNvPr>
          <p:cNvSpPr txBox="1"/>
          <p:nvPr/>
        </p:nvSpPr>
        <p:spPr>
          <a:xfrm>
            <a:off x="1828801" y="473362"/>
            <a:ext cx="600074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pPr marL="342900" indent="-342900">
              <a:buAutoNum type="arabicPeriod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buAutoNum type="arabicPeriod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AutoNum type="arabicPeriod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342900" indent="-342900">
              <a:buAutoNum type="arabicPeriod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5.1 Objective 1 &amp; attainment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5.2 Objective 2 &amp; attainment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5.3 Objective 3 &amp; attainment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5.4 Objective 4 &amp; attainment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6.   Methodology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6.1 Hardware Requirement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6.2 Software Requirement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6.3 System Architecture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6.4 Data flow diagram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6.5 Use case diagram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6.6 Algorithms used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6.7 Important piece of code</a:t>
            </a:r>
          </a:p>
          <a:p>
            <a:pPr marL="342900" indent="-342900">
              <a:buAutoNum type="arabicPeriod" startAt="7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buAutoNum type="arabicPeriod" startAt="7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  <a:p>
            <a:pPr marL="342900" indent="-342900">
              <a:buAutoNum type="arabicPeriod" startAt="7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72A91C-7B49-9F3B-4B26-4B9BC5C7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08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18BB0-16FD-FB53-0B1A-9CC6DC9B4D4F}"/>
              </a:ext>
            </a:extLst>
          </p:cNvPr>
          <p:cNvSpPr txBox="1"/>
          <p:nvPr/>
        </p:nvSpPr>
        <p:spPr>
          <a:xfrm>
            <a:off x="1938528" y="347472"/>
            <a:ext cx="7735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/>
              <a:t>INTRODUCTION</a:t>
            </a:r>
            <a:endParaRPr lang="en-IN" sz="3200" b="1" u="s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E5B9-E3D4-6C12-58FC-9B01754F7DCD}"/>
              </a:ext>
            </a:extLst>
          </p:cNvPr>
          <p:cNvSpPr txBox="1"/>
          <p:nvPr/>
        </p:nvSpPr>
        <p:spPr>
          <a:xfrm>
            <a:off x="1728216" y="1104638"/>
            <a:ext cx="901598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(Sparse Point Clouds):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Relied on multiple images to map scene structures.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 Flaw: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They lacked detail and could not accurately capture how lighting or appearances change from different viewing angles.</a:t>
            </a:r>
          </a:p>
          <a:p>
            <a:pPr lvl="1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Neural Radiance Fields (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neural networks to create an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implicit representation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a scene.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Benefits: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Achieves incredible photorealism.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cost; it requires ray-marching (calculating light paths) for every pixel, making real-time rendering difficult.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3D Gaussian Splatting (3DGS):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explicit representation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3D Gaussians (essentially 3D clouds of 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Uses rasterization-based rendering, allowing for very high frame rates (FPS) and smooth interactive viewing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631FB-A207-C57B-789F-FD03DF7D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65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3DED6-121F-4429-8CD2-91C3B4A2A923}"/>
              </a:ext>
            </a:extLst>
          </p:cNvPr>
          <p:cNvSpPr txBox="1"/>
          <p:nvPr/>
        </p:nvSpPr>
        <p:spPr>
          <a:xfrm>
            <a:off x="2011680" y="219456"/>
            <a:ext cx="7973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>
                <a:latin typeface="Aptos" panose="020B0004020202020204" pitchFamily="34" charset="0"/>
              </a:rPr>
              <a:t>LITERATURE SURVEY</a:t>
            </a:r>
            <a:endParaRPr lang="en-IN" sz="3600" b="1" u="sng">
              <a:latin typeface="Aptos" panose="020B0004020202020204" pitchFamily="34" charset="0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C5D34BB9-908B-A7E0-191B-D1A37E1C4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201" y="865787"/>
            <a:ext cx="10242687" cy="53579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7E47B-0ACF-FE17-DF46-89146670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91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E8711262-2530-BA50-22AC-94DB90D4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368635"/>
            <a:ext cx="10056963" cy="58495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9E418-389E-CE9F-EAD1-EC74F075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04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94DF6BC8-AC49-9A64-9810-959EC63A7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4" y="237398"/>
            <a:ext cx="9820275" cy="61395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E99CDD-F5E4-82C3-F611-E0CE7757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39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able">
            <a:extLst>
              <a:ext uri="{FF2B5EF4-FFF2-40B4-BE49-F238E27FC236}">
                <a16:creationId xmlns:a16="http://schemas.microsoft.com/office/drawing/2014/main" id="{C5F8D537-CFA7-7084-18CE-3B1AF969E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446721"/>
            <a:ext cx="9961713" cy="58077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A3C122-07DC-B464-BF27-AA3D0F40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74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C7AE97C5-E555-E61B-3E6B-0BE42266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552487"/>
            <a:ext cx="10047439" cy="54577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DBA86-B708-5AED-4361-864324F6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2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A9F895C0-3BEC-C3FB-B552-BF971E5A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90" y="561975"/>
            <a:ext cx="10241624" cy="5410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57514-1A1A-2391-0CAD-B631EEBD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80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11B7BAC0-3014-41CB-60DA-E898EDE49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596" y="939041"/>
            <a:ext cx="10250342" cy="49799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1EE12-462D-057F-A723-D0D58F02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448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D6483-9612-5950-7CCA-0DD3F34B445F}"/>
              </a:ext>
            </a:extLst>
          </p:cNvPr>
          <p:cNvSpPr txBox="1"/>
          <p:nvPr/>
        </p:nvSpPr>
        <p:spPr>
          <a:xfrm>
            <a:off x="1797331" y="813363"/>
            <a:ext cx="859155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200" b="1" u="sng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59698-6067-8EDE-DE84-0D62C56788F7}"/>
              </a:ext>
            </a:extLst>
          </p:cNvPr>
          <p:cNvSpPr txBox="1"/>
          <p:nvPr/>
        </p:nvSpPr>
        <p:spPr>
          <a:xfrm>
            <a:off x="1657350" y="2143720"/>
            <a:ext cx="957262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Development of a robust pipeline to convert unstructured 2D photos into a high-fidelity, interactive 3D model with optimized geometric consistency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37260-2E3B-DA83-FEB6-1F8A1DF9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67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157D6-C7BD-A8D0-9205-AF2CB2A8FE2B}"/>
              </a:ext>
            </a:extLst>
          </p:cNvPr>
          <p:cNvSpPr txBox="1"/>
          <p:nvPr/>
        </p:nvSpPr>
        <p:spPr>
          <a:xfrm>
            <a:off x="2105025" y="542925"/>
            <a:ext cx="9334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/>
              <a:t>RESEARCH GAP</a:t>
            </a:r>
          </a:p>
          <a:p>
            <a:endParaRPr lang="en-IN" sz="3200" b="1" u="sng"/>
          </a:p>
          <a:p>
            <a:endParaRPr lang="en-IN" sz="1600" b="1" u="s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F794B-A373-5709-23C4-B0D37D0E6C1C}"/>
              </a:ext>
            </a:extLst>
          </p:cNvPr>
          <p:cNvSpPr txBox="1"/>
          <p:nvPr/>
        </p:nvSpPr>
        <p:spPr>
          <a:xfrm>
            <a:off x="1905000" y="1075430"/>
            <a:ext cx="80390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u="sng"/>
              <a:t>Computational Latency</a:t>
            </a:r>
          </a:p>
          <a:p>
            <a:pPr lvl="1"/>
            <a:r>
              <a:rPr lang="en-US">
                <a:latin typeface="Urbanist"/>
                <a:ea typeface="Urbanist"/>
                <a:cs typeface="Urbanist"/>
                <a:sym typeface="Urbanist"/>
              </a:rPr>
              <a:t>Traditional </a:t>
            </a:r>
            <a:r>
              <a:rPr lang="en-US" err="1">
                <a:latin typeface="Urbanist"/>
                <a:ea typeface="Urbanist"/>
                <a:cs typeface="Urbanist"/>
                <a:sym typeface="Urbanist"/>
              </a:rPr>
              <a:t>NeRF</a:t>
            </a:r>
            <a:r>
              <a:rPr lang="en-US">
                <a:latin typeface="Urbanist"/>
                <a:ea typeface="Urbanist"/>
                <a:cs typeface="Urbanist"/>
                <a:sym typeface="Urbanist"/>
              </a:rPr>
              <a:t> models suffer from high training and inference times, making              real-time interactive rendering difficult for complex scenes</a:t>
            </a:r>
          </a:p>
          <a:p>
            <a:pPr lvl="1"/>
            <a:endParaRPr lang="en-IN" u="sng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u="sng"/>
              <a:t>Sparse View Fidelity</a:t>
            </a:r>
          </a:p>
          <a:p>
            <a:pPr lvl="1"/>
            <a:r>
              <a:rPr lang="en-US">
                <a:latin typeface="Urbanist"/>
                <a:ea typeface="Urbanist"/>
                <a:cs typeface="Urbanist"/>
                <a:sym typeface="Urbanist"/>
              </a:rPr>
              <a:t>Current algorithms degrade significantly in geometric accuracy when input 2D data is sparse or has limited angular coverage.</a:t>
            </a:r>
          </a:p>
          <a:p>
            <a:pPr lvl="1"/>
            <a:endParaRPr lang="en-IN" u="sng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7AB45-46D3-D15A-00EB-2620AD40C254}"/>
              </a:ext>
            </a:extLst>
          </p:cNvPr>
          <p:cNvSpPr txBox="1"/>
          <p:nvPr/>
        </p:nvSpPr>
        <p:spPr>
          <a:xfrm>
            <a:off x="1905000" y="3257550"/>
            <a:ext cx="7762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u="sng"/>
              <a:t>Storage Overhead</a:t>
            </a:r>
          </a:p>
          <a:p>
            <a:pPr lvl="1"/>
            <a:r>
              <a:rPr lang="en-US">
                <a:latin typeface="Urbanist"/>
                <a:ea typeface="Urbanist"/>
                <a:cs typeface="Urbanist"/>
                <a:sym typeface="Urbanist"/>
              </a:rPr>
              <a:t>3D Gaussian Splatting achieves high speeds but introduces massive disk storage requirements for high-resolution point cloud splats</a:t>
            </a:r>
            <a:endParaRPr lang="en-IN" u="sn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60E9C-7D2C-1268-0DEE-A399398E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64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B7E212-7ED8-F06B-E33B-5BEE5A6BA25E}"/>
              </a:ext>
            </a:extLst>
          </p:cNvPr>
          <p:cNvSpPr txBox="1"/>
          <p:nvPr/>
        </p:nvSpPr>
        <p:spPr>
          <a:xfrm>
            <a:off x="1800225" y="320456"/>
            <a:ext cx="1003935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/>
              <a:t>OBJECVTIVES</a:t>
            </a:r>
          </a:p>
          <a:p>
            <a:endParaRPr lang="en-IN" sz="1600" b="1" u="sng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reconstruct accurate 3D models from 2D image datasets using a stabilized optimization pipeline.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utilize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high-quality volumetric representation and spatial density mapping.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apply Aggressive 3D Gaussian Densification and Scale Clamping for sharp, detailed real-time rendering.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co-optimization engine that targets and prunes Gaussians in low-density regions (density &lt; 0.01) to eliminate artifacts.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the system for interactive performance by implementing chunked evaluation and SH-degree (Spherical Harmonics) warmup strategies.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user-centric interface for manual parameter control and real-time ETA tracking during the reconstruction process.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u="sn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43533-734E-2E90-41D5-6031EFCE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26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BAB44-AB17-E6AC-AA06-26D52C3C6855}"/>
              </a:ext>
            </a:extLst>
          </p:cNvPr>
          <p:cNvSpPr txBox="1"/>
          <p:nvPr/>
        </p:nvSpPr>
        <p:spPr>
          <a:xfrm>
            <a:off x="1609725" y="1166842"/>
            <a:ext cx="10582275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latin typeface="Times New Roman"/>
                <a:cs typeface="Times New Roman"/>
              </a:rPr>
              <a:t>Objective: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To reconstruct 3D models from multiple 2D images.</a:t>
            </a:r>
          </a:p>
          <a:p>
            <a:r>
              <a:rPr lang="en-US" b="1">
                <a:latin typeface="Times New Roman"/>
                <a:cs typeface="Times New Roman"/>
              </a:rPr>
              <a:t>Attainment: </a:t>
            </a:r>
            <a:r>
              <a:rPr lang="en-US">
                <a:latin typeface="Times New Roman"/>
                <a:cs typeface="Times New Roman"/>
              </a:rPr>
              <a:t>Successfully generated 3D models using multi-view image inputs.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/>
                <a:cs typeface="Times New Roman"/>
              </a:rPr>
              <a:t>Objective: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To utilize Neural Radiance Fields (</a:t>
            </a:r>
            <a:r>
              <a:rPr lang="en-US" err="1">
                <a:latin typeface="Times New Roman"/>
                <a:cs typeface="Times New Roman"/>
              </a:rPr>
              <a:t>NeRF</a:t>
            </a:r>
            <a:r>
              <a:rPr lang="en-US">
                <a:latin typeface="Times New Roman"/>
                <a:cs typeface="Times New Roman"/>
              </a:rPr>
              <a:t>) for high-quality volumetric scene representation</a:t>
            </a:r>
          </a:p>
          <a:p>
            <a:r>
              <a:rPr lang="en-US" b="1">
                <a:latin typeface="Times New Roman"/>
                <a:cs typeface="Times New Roman"/>
              </a:rPr>
              <a:t>Attainment: </a:t>
            </a:r>
            <a:r>
              <a:rPr lang="en-US">
                <a:latin typeface="Times New Roman"/>
                <a:cs typeface="Times New Roman"/>
              </a:rPr>
              <a:t>Implemented </a:t>
            </a:r>
            <a:r>
              <a:rPr lang="en-US" err="1">
                <a:latin typeface="Times New Roman"/>
                <a:cs typeface="Times New Roman"/>
              </a:rPr>
              <a:t>NeRF</a:t>
            </a:r>
            <a:r>
              <a:rPr lang="en-US">
                <a:latin typeface="Times New Roman"/>
                <a:cs typeface="Times New Roman"/>
              </a:rPr>
              <a:t> to achieve high-quality and realistic scene reconstruction.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apply 3D Gaussian Splatting for fast and efficient real-time rendering.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Attainment: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Achieved faster and efficient rendering using Gaussian Splatting.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/>
                <a:cs typeface="Times New Roman"/>
              </a:rPr>
              <a:t>Objective: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To develop a hybrid pipeline combining </a:t>
            </a:r>
            <a:r>
              <a:rPr lang="en-US" err="1">
                <a:latin typeface="Times New Roman"/>
                <a:cs typeface="Times New Roman"/>
              </a:rPr>
              <a:t>NeRF</a:t>
            </a:r>
            <a:r>
              <a:rPr lang="en-US">
                <a:latin typeface="Times New Roman"/>
                <a:cs typeface="Times New Roman"/>
              </a:rPr>
              <a:t> accuracy with splatting speed.</a:t>
            </a:r>
          </a:p>
          <a:p>
            <a:r>
              <a:rPr lang="en-US" b="1">
                <a:latin typeface="Times New Roman"/>
                <a:cs typeface="Times New Roman"/>
              </a:rPr>
              <a:t>Attainment: </a:t>
            </a:r>
            <a:r>
              <a:rPr lang="en-US">
                <a:latin typeface="Times New Roman"/>
                <a:cs typeface="Times New Roman"/>
              </a:rPr>
              <a:t>Designed a hybrid system balancing accuracy and rendering speed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/>
                <a:cs typeface="Times New Roman"/>
              </a:rPr>
              <a:t>Objective:</a:t>
            </a:r>
            <a:r>
              <a:rPr lang="en-US">
                <a:latin typeface="Times New Roman"/>
                <a:cs typeface="Times New Roman"/>
              </a:rPr>
              <a:t>To optimize the system for high quality and performance.</a:t>
            </a:r>
            <a:endParaRPr lang="en-IN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Attainment:</a:t>
            </a:r>
            <a:r>
              <a:rPr lang="en-US">
                <a:latin typeface="Times New Roman"/>
                <a:cs typeface="Times New Roman"/>
              </a:rPr>
              <a:t> Improved quality and ensured smooth interactive performance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0FB63-740E-D44C-4A29-F721017D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208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BD7C9-19E5-5795-3C56-8C02709EE442}"/>
              </a:ext>
            </a:extLst>
          </p:cNvPr>
          <p:cNvSpPr txBox="1"/>
          <p:nvPr/>
        </p:nvSpPr>
        <p:spPr>
          <a:xfrm>
            <a:off x="1810512" y="320040"/>
            <a:ext cx="7735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AB400-1193-ECE0-AAE4-9C08B5200170}"/>
              </a:ext>
            </a:extLst>
          </p:cNvPr>
          <p:cNvSpPr txBox="1"/>
          <p:nvPr/>
        </p:nvSpPr>
        <p:spPr>
          <a:xfrm>
            <a:off x="1673352" y="1124712"/>
            <a:ext cx="97200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Three-Stage Hybrid Pipeline</a:t>
            </a:r>
          </a:p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2D pixel data into an immersive 3D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implicit neural guidance with explicit primitive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A. Pre-processing and Pose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 &amp; Filtering: Using a Laplacian variance threshold to eliminate motion blur.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Geometric Initialization: Implementing the COLMAP Structure-from-Motion (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SfM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Calibration: Establishing consistent camera intrinsics and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extrinsics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the global coordinate system.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4E6B5-F8A9-166B-B822-170CB1BE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521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67684-CDCD-6B8B-D975-52CEB326F1D9}"/>
              </a:ext>
            </a:extLst>
          </p:cNvPr>
          <p:cNvSpPr txBox="1"/>
          <p:nvPr/>
        </p:nvSpPr>
        <p:spPr>
          <a:xfrm>
            <a:off x="1819656" y="969264"/>
            <a:ext cx="96194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-Guided Volumetric Scaffold (The Brain)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Guide:  Begin by setting up a 5-layer neural network (MLP) that serves to understand the basic shape of the object.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3D Grid: The scene divides into a 3D grid (voxels), which makes it faster and easier for the computer to process.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Surface: Check the density (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each point. If the density is high (dynamically decided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according to scene),  label it as a solid surface.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Seeding: Instead of placing 3D points (Gaussians) everywhere, only place them where the neural guide indicates there is a solid object.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BC7BF9-1F87-D05C-636D-2510701A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37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63FA8-DB23-1A6F-E4CA-1A01A7AE99A9}"/>
              </a:ext>
            </a:extLst>
          </p:cNvPr>
          <p:cNvSpPr txBox="1"/>
          <p:nvPr/>
        </p:nvSpPr>
        <p:spPr>
          <a:xfrm>
            <a:off x="1810512" y="777240"/>
            <a:ext cx="99120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Aptos" panose="020B0004020202020204" pitchFamily="34" charset="0"/>
              </a:rPr>
              <a:t>C. Adaptive Hybrid Optimization</a:t>
            </a:r>
          </a:p>
          <a:p>
            <a:endParaRPr lang="en-US" sz="2000" b="1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Guided Densification Logic uses a three-step validation to prevent artifacts: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Gradient Check:  monitor the positional gradients  ∇L to see where the model needs more detail.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Density Validation: * If ∇L is high AND the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says there is matter there (</a:t>
            </a:r>
            <a:r>
              <a:rPr lang="el-G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l-GR" sz="200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), the Gaussian is split to add detail.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If the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says the space is empty (</a:t>
            </a:r>
            <a:r>
              <a:rPr lang="el-G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σ≈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0), the Gaussian is pruned (deleted).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By pruning Gaussians that don't match the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NeRF's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memory , eliminate floaters (the stray pixels often seen in 3DGS)</a:t>
            </a:r>
          </a:p>
          <a:p>
            <a:endParaRPr lang="en-IN" sz="200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3E018-E830-B391-7955-C9365FA9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44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AC297-F73E-BB59-BFB2-829FD681266C}"/>
              </a:ext>
            </a:extLst>
          </p:cNvPr>
          <p:cNvSpPr txBox="1"/>
          <p:nvPr/>
        </p:nvSpPr>
        <p:spPr>
          <a:xfrm>
            <a:off x="1581150" y="1009650"/>
            <a:ext cx="10077450" cy="3720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/>
              <a:t>HARDWARE REQUIREMENTS</a:t>
            </a:r>
          </a:p>
          <a:p>
            <a:endParaRPr lang="en-IN" u="sng"/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requires a GPU-enabled environment because both neural reconstruction and Gaussian rendering involve intensive computation. The hardware requirements are: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1.NVIDIA CUDA-supported GPU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2.Multi-core processor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3.Minimum 8 GB RAM or above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4.Adequate secondary storage for datasets and output files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5.Display monitor, keyboard, and mouse for user interaction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B07BC6-19E6-D0BC-0773-9B437BB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115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E61C22-E4C0-648E-36C2-ADA277408F63}"/>
              </a:ext>
            </a:extLst>
          </p:cNvPr>
          <p:cNvSpPr txBox="1"/>
          <p:nvPr/>
        </p:nvSpPr>
        <p:spPr>
          <a:xfrm>
            <a:off x="1866900" y="1056084"/>
            <a:ext cx="10144125" cy="452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requirements for the proposed system are: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1.Operating System – Windows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2.Programming Language – Python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3.Deep Learning Framework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4.GPU Acceleration Platform – CUDA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5.Structure-from-Motion Tool – COLMAP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6.NeRF Frameworks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7.Gaussian Splatting libraries-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graphdeco-inria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/diff-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-rasterization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8.Visualization and rendering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996AE-7222-7825-8A42-0EC54D1B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684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521D9-1A03-3FB4-3408-D4848BC95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325" y="1041861"/>
            <a:ext cx="7522798" cy="5349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F7ABBD-C548-9016-9326-BB29B4C5E044}"/>
              </a:ext>
            </a:extLst>
          </p:cNvPr>
          <p:cNvSpPr txBox="1"/>
          <p:nvPr/>
        </p:nvSpPr>
        <p:spPr>
          <a:xfrm>
            <a:off x="2024325" y="466612"/>
            <a:ext cx="672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BC01-7EAD-0A4E-72FF-44EA8E28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132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8CE-8819-9139-AFEC-E3F6D32C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F8BB8-4103-D48C-F31B-E86481A5C806}"/>
              </a:ext>
            </a:extLst>
          </p:cNvPr>
          <p:cNvSpPr txBox="1"/>
          <p:nvPr/>
        </p:nvSpPr>
        <p:spPr>
          <a:xfrm>
            <a:off x="2024325" y="466612"/>
            <a:ext cx="672526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</a:p>
          <a:p>
            <a:endParaRPr lang="en-US" sz="11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		Level-0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E1B33-E507-3998-1EB4-CEEBC553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45" y="1612455"/>
            <a:ext cx="6931741" cy="47789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DE69FB-EED3-588F-AD3D-B1FBC0A6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47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73EF-2B2D-4D95-EE14-CB778013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CF6875-DF13-1853-CCA0-B9F9C09EF16D}"/>
              </a:ext>
            </a:extLst>
          </p:cNvPr>
          <p:cNvSpPr txBox="1"/>
          <p:nvPr/>
        </p:nvSpPr>
        <p:spPr>
          <a:xfrm>
            <a:off x="2008515" y="161812"/>
            <a:ext cx="6725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  <a:br>
              <a:rPr lang="en-US" sz="1100" b="1" u="sng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Level-1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F3CC0-829E-6D8E-1222-DE54F7864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787" y="1362141"/>
            <a:ext cx="4490720" cy="547570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FFE6E-174A-3B45-A8B2-12ADE947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84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878E-8C64-EDE4-89B2-CD4DB6DE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22F9C5-2749-CB06-1072-5C29CBDA13A4}"/>
              </a:ext>
            </a:extLst>
          </p:cNvPr>
          <p:cNvSpPr txBox="1"/>
          <p:nvPr/>
        </p:nvSpPr>
        <p:spPr>
          <a:xfrm>
            <a:off x="2024325" y="466612"/>
            <a:ext cx="672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927FF-4B3B-25E5-5575-B3FAD091F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33" y="1334940"/>
            <a:ext cx="6725264" cy="50564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DC3C0E-9B1F-7E7A-7FC8-CD1FED89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00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8B9A-50CC-42AD-BDBF-A1721035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234C15-20AF-8F9A-0B3B-F1C380D5F599}"/>
              </a:ext>
            </a:extLst>
          </p:cNvPr>
          <p:cNvSpPr txBox="1"/>
          <p:nvPr/>
        </p:nvSpPr>
        <p:spPr>
          <a:xfrm>
            <a:off x="2024325" y="466612"/>
            <a:ext cx="672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57608-D6D9-5C35-3045-9EE6D2C815F8}"/>
              </a:ext>
            </a:extLst>
          </p:cNvPr>
          <p:cNvSpPr txBox="1"/>
          <p:nvPr/>
        </p:nvSpPr>
        <p:spPr>
          <a:xfrm>
            <a:off x="2133600" y="1402080"/>
            <a:ext cx="9215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first filters blurry frames from a video and uses COLMAP's Structure-from-Motion to compute precise camera poses and intrinsic parameters.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Next, a multi-layer perceptron (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learns the continuous volumetric scene density, which is then sampled and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a dense, solid 3D point cloud.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Finally, explicit 3D Gaussian splats are initialized from this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seed and refined through differential rasterization, dynamically cloning or splitting high-error regions and pruning transparent or oversized splats to maximize render quality.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6834-81F0-F261-F663-7EDA3733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9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4967-4554-1CA4-0441-27D7E7C1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8F069-B826-198F-3820-0803276EAE60}"/>
              </a:ext>
            </a:extLst>
          </p:cNvPr>
          <p:cNvSpPr txBox="1"/>
          <p:nvPr/>
        </p:nvSpPr>
        <p:spPr>
          <a:xfrm>
            <a:off x="2024325" y="2786"/>
            <a:ext cx="672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IMPORTANT PIECE OF CODE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ACFD894-4BE9-7084-D3AD-326DACC42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42" y="485914"/>
            <a:ext cx="6862917" cy="63720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97AE1-5143-4AD8-3A68-2886C7A4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0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9D04-5F82-A4CC-EF3C-8474E154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606A6F-6B7C-8F9E-A444-0E80037046A4}"/>
              </a:ext>
            </a:extLst>
          </p:cNvPr>
          <p:cNvSpPr txBox="1"/>
          <p:nvPr/>
        </p:nvSpPr>
        <p:spPr>
          <a:xfrm>
            <a:off x="2024325" y="2786"/>
            <a:ext cx="672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IMPORTANT PIECE OF CODE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EDD961F-252E-DB3E-B832-C870494C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15" y="574261"/>
            <a:ext cx="7654857" cy="62837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5CED7-5928-0DA5-B6ED-51977B6A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854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1600AF-9EF6-D492-81A4-CFDA6EC7D4FF}"/>
              </a:ext>
            </a:extLst>
          </p:cNvPr>
          <p:cNvSpPr txBox="1"/>
          <p:nvPr/>
        </p:nvSpPr>
        <p:spPr>
          <a:xfrm>
            <a:off x="2395997" y="2683"/>
            <a:ext cx="74112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>
                <a:latin typeface="Times New Roman"/>
                <a:cs typeface="Times New Roman"/>
              </a:rPr>
              <a:t>IMPORTANT PIECE OF CODE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2E8136-8D20-2BF1-26D7-67A8AB52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90" y="485914"/>
            <a:ext cx="7125532" cy="63720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35AD8-BCD6-2AF0-EB85-D5E539B0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1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811F8-9C3D-F7BB-2E0F-5C82C5F5F252}"/>
              </a:ext>
            </a:extLst>
          </p:cNvPr>
          <p:cNvSpPr txBox="1"/>
          <p:nvPr/>
        </p:nvSpPr>
        <p:spPr>
          <a:xfrm>
            <a:off x="2097654" y="1167"/>
            <a:ext cx="69587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>
                <a:latin typeface="Times New Roman"/>
                <a:cs typeface="Times New Roman"/>
              </a:rPr>
              <a:t>IMPORTANT PIECE OF CODE</a:t>
            </a:r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712718-E419-F388-31B2-E6195C10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46" y="568210"/>
            <a:ext cx="8324124" cy="629478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4BE43-2CC2-FEFF-9007-49E4ABFD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93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BF999-902B-1C93-E1DF-BC7A06130B13}"/>
              </a:ext>
            </a:extLst>
          </p:cNvPr>
          <p:cNvSpPr txBox="1"/>
          <p:nvPr/>
        </p:nvSpPr>
        <p:spPr>
          <a:xfrm>
            <a:off x="2374515" y="2258"/>
            <a:ext cx="679878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>
                <a:latin typeface="Times New Roman"/>
                <a:cs typeface="Times New Roman"/>
              </a:rPr>
              <a:t>IMPORTANT PIECE OF CODE</a:t>
            </a:r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3798881-0844-CFF5-B081-BEC0179D4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250" y="574261"/>
            <a:ext cx="7731017" cy="62837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F7A31-5026-E818-F004-388C350C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89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EA187-120F-6291-F85D-27949A9D68AD}"/>
              </a:ext>
            </a:extLst>
          </p:cNvPr>
          <p:cNvSpPr txBox="1"/>
          <p:nvPr/>
        </p:nvSpPr>
        <p:spPr>
          <a:xfrm>
            <a:off x="2450730" y="-1787"/>
            <a:ext cx="688316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>
                <a:latin typeface="Times New Roman"/>
                <a:cs typeface="Times New Roman"/>
              </a:rPr>
              <a:t>IMPORTANT PIECE OF CODE</a:t>
            </a:r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13BD9B7-7F4E-1F94-8418-E51BC0E2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721" y="574261"/>
            <a:ext cx="7103863" cy="62837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2B069-A675-2A6E-0DF1-2A6EC7E8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22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9E934-719C-8966-921C-80801ABB80CA}"/>
              </a:ext>
            </a:extLst>
          </p:cNvPr>
          <p:cNvSpPr txBox="1"/>
          <p:nvPr/>
        </p:nvSpPr>
        <p:spPr>
          <a:xfrm>
            <a:off x="1764792" y="7721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BA736-441A-C6AD-17BE-128B2AE3A384}"/>
              </a:ext>
            </a:extLst>
          </p:cNvPr>
          <p:cNvSpPr txBox="1"/>
          <p:nvPr/>
        </p:nvSpPr>
        <p:spPr>
          <a:xfrm>
            <a:off x="1642872" y="840696"/>
            <a:ext cx="10076688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Hyper-Accelerated Scene Instantiation (45 Minutes)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Successfully executed the end-to-end pipeline—from COLMAP pose estimation to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NeRF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density warmup and final 3DGS co-optimization—within a strictly bounded 45-minute temporal window, establishing a new baseline for rapid-deployment hybrid rendering.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Extreme Computational Sparsity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Achieved volumetric geometry utilizing an aggressively constrained optimization trajectory: merely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20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NeRF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epochs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for spatial density mapping, followed by a highly compressed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15,000 Gaussian splatting steps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High-Fidelity Structural Preservation (SSIM: 0.7150)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Unlike traditional models that sacrifice structural integrity for faster rendering, our hybrid bridge achieved a highly robust Structural Similarity Index of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0.7150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 This proves the spatial geometry and localized contrasts are correctly preserved, entirely bypassing the need for computationally heavy perceptual patch metrics.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Robust Geometric Baseline (PSNR: 20.29 dB)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Under strictly limited compute cycles, the NeRF-to-3DGS bridge successfully initialized and stabilized at 20.29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dB.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This establishes a mathematically sound foundation, proving the gradients flow correctly and the "densify-and-prune" logic functions flawlessly without catastrophic collapse or over-smoothing.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BC9D0-F45C-BEC7-AAE0-9C0EBC17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25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397B-7F0A-0B0B-B3E6-8DD4566C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E84100-4403-D425-BD26-E54985DD1266}"/>
              </a:ext>
            </a:extLst>
          </p:cNvPr>
          <p:cNvSpPr txBox="1"/>
          <p:nvPr/>
        </p:nvSpPr>
        <p:spPr>
          <a:xfrm>
            <a:off x="1764792" y="7721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7F90A-D692-D077-44D5-692FAD9DE266}"/>
              </a:ext>
            </a:extLst>
          </p:cNvPr>
          <p:cNvSpPr txBox="1"/>
          <p:nvPr/>
        </p:nvSpPr>
        <p:spPr>
          <a:xfrm>
            <a:off x="1642872" y="840696"/>
            <a:ext cx="10076688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Extended Spherical Harmonic (SH) Maturation: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"In our HybridCoOptimizer.py, we implemented an SH degree warmup that increments every 1,000 steps. By terminating at 15,000 steps, the model hasn't had sufficient optimization cycles to fully refine the view-dependent specular highlights (reflections and lighting shifts) at maximum SH degree. Extending the steps will naturally resolve high-frequency color artifacts."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Periodic Opacity Resets for Artifact Pruning: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"Our co-optimizer has a critical mechanism that forcefully resets Gaussian opacities every 3,000 steps. This forces splats to 're-earn' their visibility and naturally deletes floating artifacts. A longer training trajectory allows for more of these cull cycles, which is the primary driver for pushing PSNR into the 30+ dB range."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High-Resolution Volumetric Seeding: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"Currently, our bridge_converter.py samples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NeRF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density field using a bounded grid resolution (defaulting to 256^3 or lower for quick runs). By scaling this grid resolution and raising the hard cap of 200,000 points, we can extract a substantially denser foundational point cloud before the 3DGS optimization even begins."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Expanded Ray Sampling in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NeRF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Warmup: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"To keep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NeRF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warmup under 20 epochs rapid, our nerf_trainer.py restricts sampling to 4,096 rays per batch and 96 samples per ray. By increasing this sampling density during an overnight run, the volumetric density field will capture much sharper micro-geometry before bridging to the Gaussian parameters."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9050F-7EBE-68AA-DD47-23C9EF87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65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A6BB-2A5F-854C-DC83-47CD03FE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C260DC-4028-7F4A-9B06-3404A15AA537}"/>
              </a:ext>
            </a:extLst>
          </p:cNvPr>
          <p:cNvSpPr txBox="1"/>
          <p:nvPr/>
        </p:nvSpPr>
        <p:spPr>
          <a:xfrm>
            <a:off x="1764792" y="77216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8C4CF-664E-D172-3D09-827CDDB7F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293" y="1486584"/>
            <a:ext cx="4782349" cy="3494863"/>
          </a:xfrm>
          <a:prstGeom prst="rect">
            <a:avLst/>
          </a:prstGeom>
        </p:spPr>
      </p:pic>
      <p:pic>
        <p:nvPicPr>
          <p:cNvPr id="4" name="Picture 3" descr="A living room with a couch and a tv&#10;&#10;AI-generated content may be incorrect.">
            <a:extLst>
              <a:ext uri="{FF2B5EF4-FFF2-40B4-BE49-F238E27FC236}">
                <a16:creationId xmlns:a16="http://schemas.microsoft.com/office/drawing/2014/main" id="{DDC87DF3-EB4F-DB91-2209-60B7B8CAA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12" y="1486571"/>
            <a:ext cx="5167768" cy="349282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5DB4A05-1BCB-FF27-E712-331F82CE6FB7}"/>
              </a:ext>
            </a:extLst>
          </p:cNvPr>
          <p:cNvSpPr/>
          <p:nvPr/>
        </p:nvSpPr>
        <p:spPr>
          <a:xfrm>
            <a:off x="5864678" y="2735035"/>
            <a:ext cx="911678" cy="3946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AD5F16-A62C-68DF-B770-225AB217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85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D4F3E9-A199-3071-C950-DF9AA1B3E3EB}"/>
              </a:ext>
            </a:extLst>
          </p:cNvPr>
          <p:cNvSpPr txBox="1"/>
          <p:nvPr/>
        </p:nvSpPr>
        <p:spPr>
          <a:xfrm>
            <a:off x="1586484" y="437127"/>
            <a:ext cx="9019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4EBF3-8B30-BC2E-DC3B-3E7A2CAD3E34}"/>
              </a:ext>
            </a:extLst>
          </p:cNvPr>
          <p:cNvSpPr txBox="1"/>
          <p:nvPr/>
        </p:nvSpPr>
        <p:spPr>
          <a:xfrm>
            <a:off x="1837944" y="1298448"/>
            <a:ext cx="10003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By bridging the gap between implicit neural consistency and explicit rasterization speed,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Gausfer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3D transforms static 2D snapshots into living digital architectures, paving the way for a future where high-fidelity 3D world-building is as accessible as a single click of a shutter.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Scene Support – Extend the system to reconstruct scenes with moving objects using Temporal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Reconstruction Quality – Use generative models to fill missing geometry in sparse-view datasets.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FF015-F741-5EC8-EB85-6637B374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74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87C5-6F15-CF09-11A9-10447F17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568DE-CAE6-F2D9-4A1D-6FD8136B9F8E}"/>
              </a:ext>
            </a:extLst>
          </p:cNvPr>
          <p:cNvSpPr txBox="1"/>
          <p:nvPr/>
        </p:nvSpPr>
        <p:spPr>
          <a:xfrm>
            <a:off x="1586484" y="437127"/>
            <a:ext cx="9019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7B055-D84C-C11A-3E56-B09032BD23F1}"/>
              </a:ext>
            </a:extLst>
          </p:cNvPr>
          <p:cNvSpPr txBox="1"/>
          <p:nvPr/>
        </p:nvSpPr>
        <p:spPr>
          <a:xfrm>
            <a:off x="1586484" y="1229360"/>
            <a:ext cx="89087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[1] Vickie Ye in 2025, “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gsplat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An open-source library for accelerating 3D Gaussian Splatting and real-time rendering”.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Shuting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He in 2025, “Applications of 3D Gaussian Splatting in segmentation, editing and generation tasks”.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[3] Haitian Liu in 2025, “Sparse-view 3D reconstruction using 3D Gaussian Splatting techniques”.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[4] Jiaxin Zhang in 2025, “COB-GS: Boundary-aware 3D Gaussian Splatting for improved scene segmentation”.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[5] Qi-Yuan Feng in 2025, “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EVSplitting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Gaussian splitting method for 3D scene editing and manipulation”.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[6] Kyle (Yilin) Gao in 2025, “A comprehensive survey on Neural Radiance Fields from 2020 to 2025”.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[7] Tianqi Ding in 2025, “Neural pruning techniques to optimize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training and reduce computational cost”.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[8] Bo Liu in 2025, “DT-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of diffusion models and transformers for enhanced 3D reconstruction”.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[9] Yanjun Ma in 2025, “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-based visual SLAM system for dynamic environments”.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[10] Chaoran Feng in 2025, “AE-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Event-based Neural Radiance Field for complex scene reconstruction”.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A1860-B912-7498-75C2-39030BD8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3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1793-C462-B1DB-1325-3C14B286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B7C73-26F0-7AC6-C988-A97B0D7BD2F1}"/>
              </a:ext>
            </a:extLst>
          </p:cNvPr>
          <p:cNvSpPr txBox="1"/>
          <p:nvPr/>
        </p:nvSpPr>
        <p:spPr>
          <a:xfrm>
            <a:off x="1586484" y="437127"/>
            <a:ext cx="9019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8F817-8B4D-32DB-222E-28E3518D37CB}"/>
              </a:ext>
            </a:extLst>
          </p:cNvPr>
          <p:cNvSpPr txBox="1"/>
          <p:nvPr/>
        </p:nvSpPr>
        <p:spPr>
          <a:xfrm>
            <a:off x="1586484" y="1229360"/>
            <a:ext cx="89087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Xunzhi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Zheng in 2025, “Flow-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Joint learning of geometry, pose and optical flow in neural rendering”.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[12] Shuai Liu in 2025, “Evolution of 3D reconstruction from traditional methods to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and Gaussian Splatting”.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[13] Albert Barreiro in 2025, “Comparative study of Ref-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and NRFF for reflective surface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[14]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Kibon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Ku in 2025, “SC-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for plant phenotyping and agricultural 3D reconstruction”.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[15]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Zechuan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Li in 2024, “GO-N3RDet: Geometry optimized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for 3D object detection”.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[16] M. Maharani in 2025, “Comparison of Multi-View Stereo and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using PCA analysis”.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[17] Chen Tao in 2025, “Overview and applications of Neural Radiance Fields in 3D reconstruction”.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[18] Zeyu Li in 2025, “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-based 3D reconstruction using UAV imagery for construction analysis”.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[19] Zhihong Chen in 2025, “Hybrid encoder-based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sparse-view reconstruction”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[20] Eyob T. Mengiste in 2025, “Evaluation of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and 3D Gaussian Splatting for texture and surface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2A259-CD43-02EE-5A78-D8A45512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76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4F522-0C64-677B-978E-5E61F7441949}"/>
              </a:ext>
            </a:extLst>
          </p:cNvPr>
          <p:cNvSpPr txBox="1"/>
          <p:nvPr/>
        </p:nvSpPr>
        <p:spPr>
          <a:xfrm>
            <a:off x="4204943" y="3071794"/>
            <a:ext cx="377959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THANK 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419F4-B36E-BEBB-AA05-3DE8F22F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F0F45-CB08-4917-81BA-EC915EE6F314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24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</TotalTime>
  <Words>2122</Words>
  <Application>Microsoft Office PowerPoint</Application>
  <PresentationFormat>Widescreen</PresentationFormat>
  <Paragraphs>228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Corbel</vt:lpstr>
      <vt:lpstr>Times New Roman</vt:lpstr>
      <vt:lpstr>Urbanist</vt:lpstr>
      <vt:lpstr>Wingdings</vt:lpstr>
      <vt:lpstr>Parallax</vt:lpstr>
      <vt:lpstr>GAUSFER 3D : From Flat Pixels to Immersive Reality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 S TUSHAR</dc:creator>
  <cp:lastModifiedBy>Amal S Kumar</cp:lastModifiedBy>
  <cp:revision>6</cp:revision>
  <dcterms:created xsi:type="dcterms:W3CDTF">2026-03-23T13:41:14Z</dcterms:created>
  <dcterms:modified xsi:type="dcterms:W3CDTF">2026-04-16T06:14:15Z</dcterms:modified>
</cp:coreProperties>
</file>