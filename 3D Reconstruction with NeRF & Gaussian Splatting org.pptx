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embeddedFontLst>
    <p:embeddedFont>
      <p:font typeface="Urbanist"/>
      <p:regular r:id="rId22"/>
      <p:bold r:id="rId23"/>
      <p:italic r:id="rId24"/>
      <p:boldItalic r:id="rId25"/>
    </p:embeddedFont>
    <p:embeddedFont>
      <p:font typeface="Azeret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EEA75AE-5676-4B76-8E22-E3A38B899F5A}">
  <a:tblStyle styleId="{1EEA75AE-5676-4B76-8E22-E3A38B899F5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Urbanist-regular.fntdata"/><Relationship Id="rId21" Type="http://schemas.openxmlformats.org/officeDocument/2006/relationships/slide" Target="slides/slide15.xml"/><Relationship Id="rId24" Type="http://schemas.openxmlformats.org/officeDocument/2006/relationships/font" Target="fonts/Urbanist-italic.fntdata"/><Relationship Id="rId23" Type="http://schemas.openxmlformats.org/officeDocument/2006/relationships/font" Target="fonts/Urbanis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zeretMono-regular.fntdata"/><Relationship Id="rId25" Type="http://schemas.openxmlformats.org/officeDocument/2006/relationships/font" Target="fonts/Urbanist-boldItalic.fntdata"/><Relationship Id="rId28" Type="http://schemas.openxmlformats.org/officeDocument/2006/relationships/font" Target="fonts/AzeretMono-italic.fntdata"/><Relationship Id="rId27" Type="http://schemas.openxmlformats.org/officeDocument/2006/relationships/font" Target="fonts/AzeretMon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zeretMono-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466a019d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b466a019de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466a019d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b466a019de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480123db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b480123dbd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466a019d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b466a019de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466a019d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b466a019de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466a019d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b466a019de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b466a019de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b466a019d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21.png"/><Relationship Id="rId13" Type="http://schemas.openxmlformats.org/officeDocument/2006/relationships/image" Target="../media/image1.png"/><Relationship Id="rId12" Type="http://schemas.openxmlformats.org/officeDocument/2006/relationships/image" Target="../media/image12.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1.png"/><Relationship Id="rId7" Type="http://schemas.openxmlformats.org/officeDocument/2006/relationships/image" Target="../media/image10.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7.png"/><Relationship Id="rId9"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15.png"/><Relationship Id="rId7" Type="http://schemas.openxmlformats.org/officeDocument/2006/relationships/image" Target="../media/image25.png"/><Relationship Id="rId8"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4280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581025" y="3995588"/>
            <a:ext cx="9448800" cy="1960066"/>
          </a:xfrm>
          <a:prstGeom prst="rect">
            <a:avLst/>
          </a:prstGeom>
          <a:noFill/>
          <a:ln>
            <a:noFill/>
          </a:ln>
        </p:spPr>
      </p:pic>
      <p:sp>
        <p:nvSpPr>
          <p:cNvPr id="86" name="Google Shape;86;p13"/>
          <p:cNvSpPr txBox="1"/>
          <p:nvPr/>
        </p:nvSpPr>
        <p:spPr>
          <a:xfrm>
            <a:off x="581025" y="594550"/>
            <a:ext cx="27999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818CF8"/>
                </a:solidFill>
                <a:latin typeface="Azeret Mono"/>
                <a:ea typeface="Azeret Mono"/>
                <a:cs typeface="Azeret Mono"/>
                <a:sym typeface="Azeret Mono"/>
              </a:rPr>
              <a:t>GROUP NUMBER - 05</a:t>
            </a:r>
            <a:endParaRPr/>
          </a:p>
        </p:txBody>
      </p:sp>
      <p:sp>
        <p:nvSpPr>
          <p:cNvPr id="87" name="Google Shape;87;p13"/>
          <p:cNvSpPr txBox="1"/>
          <p:nvPr/>
        </p:nvSpPr>
        <p:spPr>
          <a:xfrm>
            <a:off x="581025" y="1125789"/>
            <a:ext cx="8431200" cy="155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800" u="none" cap="none" strike="noStrike">
                <a:solidFill>
                  <a:srgbClr val="F8FAFC"/>
                </a:solidFill>
                <a:latin typeface="Urbanist"/>
                <a:ea typeface="Urbanist"/>
                <a:cs typeface="Urbanist"/>
                <a:sym typeface="Urbanist"/>
              </a:rPr>
              <a:t>3D RECONSTRUCTION FROM</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F8FAFC"/>
                </a:solidFill>
                <a:latin typeface="Urbanist"/>
                <a:ea typeface="Urbanist"/>
                <a:cs typeface="Urbanist"/>
                <a:sym typeface="Urbanist"/>
              </a:rPr>
              <a:t>2D PHOTOS AND DATA</a:t>
            </a:r>
            <a:endParaRPr/>
          </a:p>
        </p:txBody>
      </p:sp>
      <p:sp>
        <p:nvSpPr>
          <p:cNvPr id="88" name="Google Shape;88;p13"/>
          <p:cNvSpPr txBox="1"/>
          <p:nvPr/>
        </p:nvSpPr>
        <p:spPr>
          <a:xfrm>
            <a:off x="581025" y="3153667"/>
            <a:ext cx="9448800" cy="1120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2800" u="none" cap="none" strike="noStrike">
                <a:solidFill>
                  <a:srgbClr val="38BDF8"/>
                </a:solidFill>
                <a:latin typeface="Azeret Mono"/>
                <a:ea typeface="Azeret Mono"/>
                <a:cs typeface="Azeret Mono"/>
                <a:sym typeface="Azeret Mono"/>
              </a:rPr>
              <a:t>Utilizing Neural Radiance Fields (NeRF) and Gaussian Splatting</a:t>
            </a:r>
            <a:endParaRPr sz="2800"/>
          </a:p>
        </p:txBody>
      </p:sp>
      <p:sp>
        <p:nvSpPr>
          <p:cNvPr id="89" name="Google Shape;89;p13"/>
          <p:cNvSpPr txBox="1"/>
          <p:nvPr/>
        </p:nvSpPr>
        <p:spPr>
          <a:xfrm>
            <a:off x="581025" y="4386113"/>
            <a:ext cx="476059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Urbanist"/>
                <a:ea typeface="Urbanist"/>
                <a:cs typeface="Urbanist"/>
                <a:sym typeface="Urbanist"/>
              </a:rPr>
              <a:t>INSTITUTION</a:t>
            </a:r>
            <a:endParaRPr/>
          </a:p>
        </p:txBody>
      </p:sp>
      <p:sp>
        <p:nvSpPr>
          <p:cNvPr id="90" name="Google Shape;90;p13"/>
          <p:cNvSpPr txBox="1"/>
          <p:nvPr/>
        </p:nvSpPr>
        <p:spPr>
          <a:xfrm>
            <a:off x="581025" y="4614713"/>
            <a:ext cx="453390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8FAFC"/>
                </a:solidFill>
                <a:latin typeface="Urbanist"/>
                <a:ea typeface="Urbanist"/>
                <a:cs typeface="Urbanist"/>
                <a:sym typeface="Urbanist"/>
              </a:rPr>
              <a:t>College of Engineering and Management, Punnapra</a:t>
            </a:r>
            <a:endParaRPr/>
          </a:p>
        </p:txBody>
      </p:sp>
      <p:sp>
        <p:nvSpPr>
          <p:cNvPr id="91" name="Google Shape;91;p13"/>
          <p:cNvSpPr txBox="1"/>
          <p:nvPr/>
        </p:nvSpPr>
        <p:spPr>
          <a:xfrm>
            <a:off x="5495925" y="4386113"/>
            <a:ext cx="476059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Urbanist"/>
                <a:ea typeface="Urbanist"/>
                <a:cs typeface="Urbanist"/>
                <a:sym typeface="Urbanist"/>
              </a:rPr>
              <a:t>MENTORSHIP</a:t>
            </a:r>
            <a:endParaRPr/>
          </a:p>
        </p:txBody>
      </p:sp>
      <p:sp>
        <p:nvSpPr>
          <p:cNvPr id="92" name="Google Shape;92;p13"/>
          <p:cNvSpPr txBox="1"/>
          <p:nvPr/>
        </p:nvSpPr>
        <p:spPr>
          <a:xfrm>
            <a:off x="5495925" y="4614713"/>
            <a:ext cx="453390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8FAFC"/>
                </a:solidFill>
                <a:latin typeface="Urbanist"/>
                <a:ea typeface="Urbanist"/>
                <a:cs typeface="Urbanist"/>
                <a:sym typeface="Urbanist"/>
              </a:rPr>
              <a:t>Guided by: Ms Remyamol R, Ms Smitha M Jasmine</a:t>
            </a:r>
            <a:endParaRPr/>
          </a:p>
        </p:txBody>
      </p:sp>
      <p:sp>
        <p:nvSpPr>
          <p:cNvPr id="93" name="Google Shape;93;p13"/>
          <p:cNvSpPr txBox="1"/>
          <p:nvPr/>
        </p:nvSpPr>
        <p:spPr>
          <a:xfrm>
            <a:off x="581025" y="5239494"/>
            <a:ext cx="476059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Urbanist"/>
                <a:ea typeface="Urbanist"/>
                <a:cs typeface="Urbanist"/>
                <a:sym typeface="Urbanist"/>
              </a:rPr>
              <a:t>TEAM MEMBERS</a:t>
            </a:r>
            <a:endParaRPr/>
          </a:p>
        </p:txBody>
      </p:sp>
      <p:sp>
        <p:nvSpPr>
          <p:cNvPr id="94" name="Google Shape;94;p13"/>
          <p:cNvSpPr txBox="1"/>
          <p:nvPr/>
        </p:nvSpPr>
        <p:spPr>
          <a:xfrm>
            <a:off x="581025" y="5468094"/>
            <a:ext cx="4533900" cy="775800"/>
          </a:xfrm>
          <a:prstGeom prst="rect">
            <a:avLst/>
          </a:prstGeom>
          <a:noFill/>
          <a:ln>
            <a:noFill/>
          </a:ln>
        </p:spPr>
        <p:txBody>
          <a:bodyPr anchorCtr="0" anchor="t" bIns="0" lIns="0" spcFirstLastPara="1" rIns="0" wrap="square" tIns="0">
            <a:spAutoFit/>
          </a:bodyPr>
          <a:lstStyle/>
          <a:p>
            <a:pPr indent="0" lvl="0" marL="0" marR="0" rtl="0" algn="l">
              <a:lnSpc>
                <a:spcPct val="106666"/>
              </a:lnSpc>
              <a:spcBef>
                <a:spcPts val="0"/>
              </a:spcBef>
              <a:spcAft>
                <a:spcPts val="0"/>
              </a:spcAft>
              <a:buNone/>
            </a:pPr>
            <a:r>
              <a:rPr b="0" i="0" lang="en-US" sz="1200" u="none" cap="none" strike="noStrike">
                <a:solidFill>
                  <a:srgbClr val="F8FAFC"/>
                </a:solidFill>
                <a:latin typeface="Urbanist"/>
                <a:ea typeface="Urbanist"/>
                <a:cs typeface="Urbanist"/>
                <a:sym typeface="Urbanist"/>
              </a:rPr>
              <a:t>Aleesha M (05), </a:t>
            </a:r>
            <a:endParaRPr b="0" i="0" sz="1200" u="none" cap="none" strike="noStrike">
              <a:solidFill>
                <a:srgbClr val="F8FAFC"/>
              </a:solidFill>
              <a:latin typeface="Urbanist"/>
              <a:ea typeface="Urbanist"/>
              <a:cs typeface="Urbanist"/>
              <a:sym typeface="Urbanist"/>
            </a:endParaRPr>
          </a:p>
          <a:p>
            <a:pPr indent="0" lvl="0" marL="0" marR="0" rtl="0" algn="l">
              <a:lnSpc>
                <a:spcPct val="106666"/>
              </a:lnSpc>
              <a:spcBef>
                <a:spcPts val="0"/>
              </a:spcBef>
              <a:spcAft>
                <a:spcPts val="0"/>
              </a:spcAft>
              <a:buNone/>
            </a:pPr>
            <a:r>
              <a:rPr b="0" i="0" lang="en-US" sz="1200" u="none" cap="none" strike="noStrike">
                <a:solidFill>
                  <a:srgbClr val="F8FAFC"/>
                </a:solidFill>
                <a:latin typeface="Urbanist"/>
                <a:ea typeface="Urbanist"/>
                <a:cs typeface="Urbanist"/>
                <a:sym typeface="Urbanist"/>
              </a:rPr>
              <a:t>Amal S Kumar (06),</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F8FAFC"/>
                </a:solidFill>
                <a:latin typeface="Urbanist"/>
                <a:ea typeface="Urbanist"/>
                <a:cs typeface="Urbanist"/>
                <a:sym typeface="Urbanist"/>
              </a:rPr>
              <a:t>Ambili Ambaran S (08)</a:t>
            </a:r>
            <a:endParaRPr b="0" i="0" sz="1200" u="none" cap="none" strike="noStrike">
              <a:solidFill>
                <a:srgbClr val="F8FAFC"/>
              </a:solidFill>
              <a:latin typeface="Urbanist"/>
              <a:ea typeface="Urbanist"/>
              <a:cs typeface="Urbanist"/>
              <a:sym typeface="Urbanist"/>
            </a:endParaRPr>
          </a:p>
          <a:p>
            <a:pPr indent="0" lvl="0" marL="0" marR="0" rtl="0" algn="l">
              <a:lnSpc>
                <a:spcPct val="106666"/>
              </a:lnSpc>
              <a:spcBef>
                <a:spcPts val="0"/>
              </a:spcBef>
              <a:spcAft>
                <a:spcPts val="0"/>
              </a:spcAft>
              <a:buNone/>
            </a:pPr>
            <a:r>
              <a:rPr b="0" i="0" lang="en-US" sz="1200" u="none" cap="none" strike="noStrike">
                <a:solidFill>
                  <a:srgbClr val="F8FAFC"/>
                </a:solidFill>
                <a:latin typeface="Urbanist"/>
                <a:ea typeface="Urbanist"/>
                <a:cs typeface="Urbanist"/>
                <a:sym typeface="Urbanist"/>
              </a:rPr>
              <a:t>, Aswin S Tushar (23)</a:t>
            </a:r>
            <a:endParaRPr/>
          </a:p>
        </p:txBody>
      </p:sp>
      <p:sp>
        <p:nvSpPr>
          <p:cNvPr id="95" name="Google Shape;95;p13"/>
          <p:cNvSpPr txBox="1"/>
          <p:nvPr/>
        </p:nvSpPr>
        <p:spPr>
          <a:xfrm>
            <a:off x="5495925" y="5239494"/>
            <a:ext cx="476059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4748B"/>
                </a:solidFill>
                <a:latin typeface="Urbanist"/>
                <a:ea typeface="Urbanist"/>
                <a:cs typeface="Urbanist"/>
                <a:sym typeface="Urbanist"/>
              </a:rPr>
              <a:t>DATE</a:t>
            </a:r>
            <a:endParaRPr/>
          </a:p>
        </p:txBody>
      </p:sp>
      <p:sp>
        <p:nvSpPr>
          <p:cNvPr id="96" name="Google Shape;96;p13"/>
          <p:cNvSpPr txBox="1"/>
          <p:nvPr/>
        </p:nvSpPr>
        <p:spPr>
          <a:xfrm>
            <a:off x="5495925" y="5468094"/>
            <a:ext cx="453390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8FAFC"/>
                </a:solidFill>
                <a:latin typeface="Urbanist"/>
                <a:ea typeface="Urbanist"/>
                <a:cs typeface="Urbanist"/>
                <a:sym typeface="Urbanist"/>
              </a:rPr>
              <a:t>05 January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00" name="Shape 100"/>
        <p:cNvGrpSpPr/>
        <p:nvPr/>
      </p:nvGrpSpPr>
      <p:grpSpPr>
        <a:xfrm>
          <a:off x="0" y="0"/>
          <a:ext cx="0" cy="0"/>
          <a:chOff x="0" y="0"/>
          <a:chExt cx="0" cy="0"/>
        </a:xfrm>
      </p:grpSpPr>
      <p:pic>
        <p:nvPicPr>
          <p:cNvPr descr="image.png" id="101" name="Google Shape;10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2" name="Google Shape;102;p14"/>
          <p:cNvPicPr preferRelativeResize="0"/>
          <p:nvPr/>
        </p:nvPicPr>
        <p:blipFill rotWithShape="1">
          <a:blip r:embed="rId4">
            <a:alphaModFix/>
          </a:blip>
          <a:srcRect b="0" l="0" r="0" t="0"/>
          <a:stretch/>
        </p:blipFill>
        <p:spPr>
          <a:xfrm>
            <a:off x="581025" y="1286023"/>
            <a:ext cx="3517850" cy="2388691"/>
          </a:xfrm>
          <a:prstGeom prst="rect">
            <a:avLst/>
          </a:prstGeom>
          <a:noFill/>
          <a:ln>
            <a:noFill/>
          </a:ln>
        </p:spPr>
      </p:pic>
      <p:pic>
        <p:nvPicPr>
          <p:cNvPr descr="image.png" id="103" name="Google Shape;103;p14"/>
          <p:cNvPicPr preferRelativeResize="0"/>
          <p:nvPr/>
        </p:nvPicPr>
        <p:blipFill rotWithShape="1">
          <a:blip r:embed="rId5">
            <a:alphaModFix/>
          </a:blip>
          <a:srcRect b="0" l="0" r="0" t="0"/>
          <a:stretch/>
        </p:blipFill>
        <p:spPr>
          <a:xfrm>
            <a:off x="4337000" y="1286023"/>
            <a:ext cx="3517850" cy="2388691"/>
          </a:xfrm>
          <a:prstGeom prst="rect">
            <a:avLst/>
          </a:prstGeom>
          <a:noFill/>
          <a:ln>
            <a:noFill/>
          </a:ln>
        </p:spPr>
      </p:pic>
      <p:pic>
        <p:nvPicPr>
          <p:cNvPr descr="image.png" id="104" name="Google Shape;104;p14"/>
          <p:cNvPicPr preferRelativeResize="0"/>
          <p:nvPr/>
        </p:nvPicPr>
        <p:blipFill rotWithShape="1">
          <a:blip r:embed="rId6">
            <a:alphaModFix/>
          </a:blip>
          <a:srcRect b="0" l="0" r="0" t="0"/>
          <a:stretch/>
        </p:blipFill>
        <p:spPr>
          <a:xfrm>
            <a:off x="8092975" y="1286023"/>
            <a:ext cx="3517999" cy="2388691"/>
          </a:xfrm>
          <a:prstGeom prst="rect">
            <a:avLst/>
          </a:prstGeom>
          <a:noFill/>
          <a:ln>
            <a:noFill/>
          </a:ln>
        </p:spPr>
      </p:pic>
      <p:pic>
        <p:nvPicPr>
          <p:cNvPr descr="image.png" id="105" name="Google Shape;105;p14"/>
          <p:cNvPicPr preferRelativeResize="0"/>
          <p:nvPr/>
        </p:nvPicPr>
        <p:blipFill rotWithShape="1">
          <a:blip r:embed="rId7">
            <a:alphaModFix/>
          </a:blip>
          <a:srcRect b="0" l="0" r="0" t="0"/>
          <a:stretch/>
        </p:blipFill>
        <p:spPr>
          <a:xfrm>
            <a:off x="581025" y="3912840"/>
            <a:ext cx="3517850" cy="2144910"/>
          </a:xfrm>
          <a:prstGeom prst="rect">
            <a:avLst/>
          </a:prstGeom>
          <a:noFill/>
          <a:ln>
            <a:noFill/>
          </a:ln>
        </p:spPr>
      </p:pic>
      <p:pic>
        <p:nvPicPr>
          <p:cNvPr descr="image.png" id="106" name="Google Shape;106;p14"/>
          <p:cNvPicPr preferRelativeResize="0"/>
          <p:nvPr/>
        </p:nvPicPr>
        <p:blipFill rotWithShape="1">
          <a:blip r:embed="rId8">
            <a:alphaModFix/>
          </a:blip>
          <a:srcRect b="0" l="0" r="0" t="0"/>
          <a:stretch/>
        </p:blipFill>
        <p:spPr>
          <a:xfrm>
            <a:off x="4337000" y="3912840"/>
            <a:ext cx="3517850" cy="2144910"/>
          </a:xfrm>
          <a:prstGeom prst="rect">
            <a:avLst/>
          </a:prstGeom>
          <a:noFill/>
          <a:ln>
            <a:noFill/>
          </a:ln>
        </p:spPr>
      </p:pic>
      <p:sp>
        <p:nvSpPr>
          <p:cNvPr id="107" name="Google Shape;107;p14"/>
          <p:cNvSpPr txBox="1"/>
          <p:nvPr/>
        </p:nvSpPr>
        <p:spPr>
          <a:xfrm>
            <a:off x="876300" y="2086123"/>
            <a:ext cx="307366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01: Literature Review</a:t>
            </a:r>
            <a:endParaRPr/>
          </a:p>
        </p:txBody>
      </p:sp>
      <p:sp>
        <p:nvSpPr>
          <p:cNvPr id="108" name="Google Shape;108;p14"/>
          <p:cNvSpPr txBox="1"/>
          <p:nvPr/>
        </p:nvSpPr>
        <p:spPr>
          <a:xfrm>
            <a:off x="876300" y="2495698"/>
            <a:ext cx="29273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Analysis of 20 research papers concerning volumetric and explicit 3D representations.</a:t>
            </a:r>
            <a:endParaRPr/>
          </a:p>
        </p:txBody>
      </p:sp>
      <p:sp>
        <p:nvSpPr>
          <p:cNvPr id="109" name="Google Shape;109;p14"/>
          <p:cNvSpPr txBox="1"/>
          <p:nvPr/>
        </p:nvSpPr>
        <p:spPr>
          <a:xfrm>
            <a:off x="4632275" y="2086123"/>
            <a:ext cx="307366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02: Research Gap</a:t>
            </a:r>
            <a:endParaRPr/>
          </a:p>
        </p:txBody>
      </p:sp>
      <p:sp>
        <p:nvSpPr>
          <p:cNvPr id="110" name="Google Shape;110;p14"/>
          <p:cNvSpPr txBox="1"/>
          <p:nvPr/>
        </p:nvSpPr>
        <p:spPr>
          <a:xfrm>
            <a:off x="4632275" y="2495698"/>
            <a:ext cx="292730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Identifying speed and sparse view limitations in current photorealistic pipelines.</a:t>
            </a:r>
            <a:endParaRPr/>
          </a:p>
        </p:txBody>
      </p:sp>
      <p:sp>
        <p:nvSpPr>
          <p:cNvPr id="111" name="Google Shape;111;p14"/>
          <p:cNvSpPr txBox="1"/>
          <p:nvPr/>
        </p:nvSpPr>
        <p:spPr>
          <a:xfrm>
            <a:off x="8388250" y="2086123"/>
            <a:ext cx="3073821"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03: Problem Statement</a:t>
            </a:r>
            <a:endParaRPr/>
          </a:p>
        </p:txBody>
      </p:sp>
      <p:sp>
        <p:nvSpPr>
          <p:cNvPr id="112" name="Google Shape;112;p14"/>
          <p:cNvSpPr txBox="1"/>
          <p:nvPr/>
        </p:nvSpPr>
        <p:spPr>
          <a:xfrm>
            <a:off x="8388250" y="2495698"/>
            <a:ext cx="2927449"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Addressing the trade-off between neural accuracy and real-time interactive rendering.</a:t>
            </a:r>
            <a:endParaRPr/>
          </a:p>
        </p:txBody>
      </p:sp>
      <p:sp>
        <p:nvSpPr>
          <p:cNvPr id="113" name="Google Shape;113;p14"/>
          <p:cNvSpPr txBox="1"/>
          <p:nvPr/>
        </p:nvSpPr>
        <p:spPr>
          <a:xfrm>
            <a:off x="876300" y="4712940"/>
            <a:ext cx="307366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04: Objective</a:t>
            </a:r>
            <a:endParaRPr/>
          </a:p>
        </p:txBody>
      </p:sp>
      <p:sp>
        <p:nvSpPr>
          <p:cNvPr id="114" name="Google Shape;114;p14"/>
          <p:cNvSpPr txBox="1"/>
          <p:nvPr/>
        </p:nvSpPr>
        <p:spPr>
          <a:xfrm>
            <a:off x="876300" y="5122515"/>
            <a:ext cx="29273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Framework development for hybrid 3D generation and performance optimization.</a:t>
            </a:r>
            <a:endParaRPr/>
          </a:p>
        </p:txBody>
      </p:sp>
      <p:sp>
        <p:nvSpPr>
          <p:cNvPr id="115" name="Google Shape;115;p14"/>
          <p:cNvSpPr txBox="1"/>
          <p:nvPr/>
        </p:nvSpPr>
        <p:spPr>
          <a:xfrm>
            <a:off x="4632275" y="4712940"/>
            <a:ext cx="307366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05: Conclusion</a:t>
            </a:r>
            <a:endParaRPr/>
          </a:p>
        </p:txBody>
      </p:sp>
      <p:sp>
        <p:nvSpPr>
          <p:cNvPr id="116" name="Google Shape;116;p14"/>
          <p:cNvSpPr txBox="1"/>
          <p:nvPr/>
        </p:nvSpPr>
        <p:spPr>
          <a:xfrm>
            <a:off x="4632275" y="5122515"/>
            <a:ext cx="29273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Future outlook and summary of finding in neural radiance and splatting fields.</a:t>
            </a:r>
            <a:endParaRPr/>
          </a:p>
        </p:txBody>
      </p:sp>
      <p:pic>
        <p:nvPicPr>
          <p:cNvPr descr="image.png" id="117" name="Google Shape;117;p14"/>
          <p:cNvPicPr preferRelativeResize="0"/>
          <p:nvPr/>
        </p:nvPicPr>
        <p:blipFill rotWithShape="1">
          <a:blip r:embed="rId9">
            <a:alphaModFix/>
          </a:blip>
          <a:srcRect b="0" l="0" r="0" t="0"/>
          <a:stretch/>
        </p:blipFill>
        <p:spPr>
          <a:xfrm>
            <a:off x="876300" y="1600348"/>
            <a:ext cx="304800" cy="304800"/>
          </a:xfrm>
          <a:prstGeom prst="rect">
            <a:avLst/>
          </a:prstGeom>
          <a:noFill/>
          <a:ln>
            <a:noFill/>
          </a:ln>
        </p:spPr>
      </p:pic>
      <p:pic>
        <p:nvPicPr>
          <p:cNvPr descr="image.png" id="118" name="Google Shape;118;p14"/>
          <p:cNvPicPr preferRelativeResize="0"/>
          <p:nvPr/>
        </p:nvPicPr>
        <p:blipFill rotWithShape="1">
          <a:blip r:embed="rId10">
            <a:alphaModFix/>
          </a:blip>
          <a:srcRect b="0" l="0" r="0" t="0"/>
          <a:stretch/>
        </p:blipFill>
        <p:spPr>
          <a:xfrm>
            <a:off x="4632275" y="1600348"/>
            <a:ext cx="304800" cy="304800"/>
          </a:xfrm>
          <a:prstGeom prst="rect">
            <a:avLst/>
          </a:prstGeom>
          <a:noFill/>
          <a:ln>
            <a:noFill/>
          </a:ln>
        </p:spPr>
      </p:pic>
      <p:pic>
        <p:nvPicPr>
          <p:cNvPr descr="image.png" id="119" name="Google Shape;119;p14"/>
          <p:cNvPicPr preferRelativeResize="0"/>
          <p:nvPr/>
        </p:nvPicPr>
        <p:blipFill rotWithShape="1">
          <a:blip r:embed="rId11">
            <a:alphaModFix/>
          </a:blip>
          <a:srcRect b="0" l="0" r="0" t="0"/>
          <a:stretch/>
        </p:blipFill>
        <p:spPr>
          <a:xfrm>
            <a:off x="8388250" y="1600348"/>
            <a:ext cx="304800" cy="304800"/>
          </a:xfrm>
          <a:prstGeom prst="rect">
            <a:avLst/>
          </a:prstGeom>
          <a:noFill/>
          <a:ln>
            <a:noFill/>
          </a:ln>
        </p:spPr>
      </p:pic>
      <p:pic>
        <p:nvPicPr>
          <p:cNvPr descr="image.png" id="120" name="Google Shape;120;p14"/>
          <p:cNvPicPr preferRelativeResize="0"/>
          <p:nvPr/>
        </p:nvPicPr>
        <p:blipFill rotWithShape="1">
          <a:blip r:embed="rId12">
            <a:alphaModFix/>
          </a:blip>
          <a:srcRect b="0" l="0" r="0" t="0"/>
          <a:stretch/>
        </p:blipFill>
        <p:spPr>
          <a:xfrm>
            <a:off x="876300" y="4227165"/>
            <a:ext cx="304800" cy="304800"/>
          </a:xfrm>
          <a:prstGeom prst="rect">
            <a:avLst/>
          </a:prstGeom>
          <a:noFill/>
          <a:ln>
            <a:noFill/>
          </a:ln>
        </p:spPr>
      </p:pic>
      <p:pic>
        <p:nvPicPr>
          <p:cNvPr descr="image.png" id="121" name="Google Shape;121;p14"/>
          <p:cNvPicPr preferRelativeResize="0"/>
          <p:nvPr/>
        </p:nvPicPr>
        <p:blipFill rotWithShape="1">
          <a:blip r:embed="rId13">
            <a:alphaModFix/>
          </a:blip>
          <a:srcRect b="0" l="0" r="0" t="0"/>
          <a:stretch/>
        </p:blipFill>
        <p:spPr>
          <a:xfrm>
            <a:off x="4632275" y="4227165"/>
            <a:ext cx="266700" cy="304800"/>
          </a:xfrm>
          <a:prstGeom prst="rect">
            <a:avLst/>
          </a:prstGeom>
          <a:noFill/>
          <a:ln>
            <a:noFill/>
          </a:ln>
        </p:spPr>
      </p:pic>
      <p:sp>
        <p:nvSpPr>
          <p:cNvPr id="122" name="Google Shape;122;p14"/>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Urbanist"/>
                <a:ea typeface="Urbanist"/>
                <a:cs typeface="Urbanist"/>
                <a:sym typeface="Urbanist"/>
              </a:rPr>
              <a:t>CONTENTS</a:t>
            </a:r>
            <a:endParaRPr/>
          </a:p>
        </p:txBody>
      </p:sp>
      <p:sp>
        <p:nvSpPr>
          <p:cNvPr id="123" name="Google Shape;123;p14"/>
          <p:cNvSpPr/>
          <p:nvPr/>
        </p:nvSpPr>
        <p:spPr>
          <a:xfrm>
            <a:off x="581025" y="581025"/>
            <a:ext cx="57150"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27" name="Shape 127"/>
        <p:cNvGrpSpPr/>
        <p:nvPr/>
      </p:nvGrpSpPr>
      <p:grpSpPr>
        <a:xfrm>
          <a:off x="0" y="0"/>
          <a:ext cx="0" cy="0"/>
          <a:chOff x="0" y="0"/>
          <a:chExt cx="0" cy="0"/>
        </a:xfrm>
      </p:grpSpPr>
      <p:pic>
        <p:nvPicPr>
          <p:cNvPr descr="image.png" id="128" name="Google Shape;128;p15"/>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29" name="Google Shape;129;p15"/>
          <p:cNvGraphicFramePr/>
          <p:nvPr/>
        </p:nvGraphicFramePr>
        <p:xfrm>
          <a:off x="580975" y="558396"/>
          <a:ext cx="3000000" cy="3000000"/>
        </p:xfrm>
        <a:graphic>
          <a:graphicData uri="http://schemas.openxmlformats.org/drawingml/2006/table">
            <a:tbl>
              <a:tblPr bandRow="1" firstRow="1">
                <a:noFill/>
                <a:tableStyleId>{1EEA75AE-5676-4B76-8E22-E3A38B899F5A}</a:tableStyleId>
              </a:tblPr>
              <a:tblGrid>
                <a:gridCol w="404625"/>
                <a:gridCol w="1922875"/>
                <a:gridCol w="1599600"/>
                <a:gridCol w="2328225"/>
                <a:gridCol w="924375"/>
                <a:gridCol w="1815825"/>
                <a:gridCol w="2298250"/>
              </a:tblGrid>
              <a:tr h="958075">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646125">
                <a:tc>
                  <a:txBody>
                    <a:bodyPr/>
                    <a:lstStyle/>
                    <a:p>
                      <a:pPr indent="0" lvl="0" marL="0" marR="0" rtl="0" algn="l">
                        <a:spcBef>
                          <a:spcPts val="0"/>
                        </a:spcBef>
                        <a:spcAft>
                          <a:spcPts val="0"/>
                        </a:spcAft>
                        <a:buNone/>
                      </a:pPr>
                      <a:r>
                        <a:rPr b="0" i="0" lang="en-US" sz="975" u="none" cap="none" strike="noStrike">
                          <a:latin typeface="Urbanist"/>
                          <a:ea typeface="Urbanist"/>
                          <a:cs typeface="Urbanist"/>
                          <a:sym typeface="Urbanist"/>
                        </a:rPr>
                        <a:t>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gsplat: An Open-Source Library for Gaussian Splatting</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Journal of Machine Learning Research 26 (2025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a:latin typeface="Arial"/>
                          <a:ea typeface="Arial"/>
                          <a:cs typeface="Arial"/>
                          <a:sym typeface="Arial"/>
                        </a:rPr>
                        <a:t>Gaussian Splatting (PyTorch + CUDA): Open-source library featuring CUDA-optimized rasterization, densification, differentiable pose optimization, depth rendering, N-D splatting, and Mip-Splatting anti-aliasing.</a:t>
                      </a:r>
                      <a:endParaRPr sz="9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300"/>
                        <a:t>Achieves up to 10% less training time and 4x less memory compared to the original Kerbl et al. (2023) implementation.</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300"/>
                        <a:t>High GPU memory usage, CUDA/PyTorch dependency issues, fill-rate–heavy rendering, sensitive hyperparameters, limited scalability for very large scenes</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51650">
                <a:tc>
                  <a:txBody>
                    <a:bodyPr/>
                    <a:lstStyle/>
                    <a:p>
                      <a:pPr indent="0" lvl="0" marL="0" marR="0" rtl="0" algn="l">
                        <a:spcBef>
                          <a:spcPts val="0"/>
                        </a:spcBef>
                        <a:spcAft>
                          <a:spcPts val="0"/>
                        </a:spcAft>
                        <a:buNone/>
                      </a:pPr>
                      <a:r>
                        <a:rPr b="0" i="0" lang="en-US" sz="975" u="none" cap="none" strike="noStrike">
                          <a:latin typeface="Urbanist"/>
                          <a:ea typeface="Urbanist"/>
                          <a:cs typeface="Urbanist"/>
                          <a:sym typeface="Urbanist"/>
                        </a:rPr>
                        <a:t>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US"/>
                        <a:t>A Survey on 3D Gaussian Splatting Applications:</a:t>
                      </a:r>
                      <a:endParaRPr/>
                    </a:p>
                    <a:p>
                      <a:pPr indent="0" lvl="0" marL="0" marR="0" rtl="0" algn="l">
                        <a:spcBef>
                          <a:spcPts val="0"/>
                        </a:spcBef>
                        <a:spcAft>
                          <a:spcPts val="0"/>
                        </a:spcAft>
                        <a:buNone/>
                      </a:pPr>
                      <a:r>
                        <a:rPr lang="en-US"/>
                        <a:t>Segmentation, Editing, and Generation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US" sz="1500"/>
                        <a:t>arXiv:2508.09977v1 [cs.CV]</a:t>
                      </a:r>
                      <a:endParaRPr sz="1500"/>
                    </a:p>
                    <a:p>
                      <a:pPr indent="0" lvl="0" marL="0" rtl="0" algn="l">
                        <a:spcBef>
                          <a:spcPts val="0"/>
                        </a:spcBef>
                        <a:spcAft>
                          <a:spcPts val="0"/>
                        </a:spcAft>
                        <a:buClr>
                          <a:schemeClr val="dk1"/>
                        </a:buClr>
                        <a:buSzPts val="1100"/>
                        <a:buFont typeface="Arial"/>
                        <a:buNone/>
                      </a:pPr>
                      <a:r>
                        <a:t/>
                      </a:r>
                      <a:endParaRPr sz="1800"/>
                    </a:p>
                    <a:p>
                      <a:pPr indent="0" lvl="0" marL="0" marR="0" rtl="0" algn="l">
                        <a:spcBef>
                          <a:spcPts val="0"/>
                        </a:spcBef>
                        <a:spcAft>
                          <a:spcPts val="0"/>
                        </a:spcAft>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US" sz="1100">
                          <a:latin typeface="Arial"/>
                          <a:ea typeface="Arial"/>
                          <a:cs typeface="Arial"/>
                          <a:sym typeface="Arial"/>
                        </a:rPr>
                        <a:t>3D Gaussian Splatting Survey: Comprehensive review of 3DGS methods and applications (Segmentation, Editing, Generation, Avatars, SLAM), analyzing connections with NeRF and 2D foundation models.</a:t>
                      </a:r>
                      <a:endParaRPr sz="18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300"/>
                        <a:t>Real-time photorealistic rendering with explicit, interpretable representation enabling efficient optimization and intuitive high-level manipulation</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300"/>
                        <a:t>Lack of faithful 3D-aware evaluation metrics, scarcity of large-scale annotated 3D data, and inefficient per-scene optimization</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201625">
                <a:tc>
                  <a:txBody>
                    <a:bodyPr/>
                    <a:lstStyle/>
                    <a:p>
                      <a:pPr indent="0" lvl="0" marL="0" marR="0" rtl="0" algn="l">
                        <a:spcBef>
                          <a:spcPts val="0"/>
                        </a:spcBef>
                        <a:spcAft>
                          <a:spcPts val="0"/>
                        </a:spcAft>
                        <a:buNone/>
                      </a:pPr>
                      <a:r>
                        <a:rPr b="0" i="0" lang="en-US" sz="975" u="none" cap="none" strike="noStrike">
                          <a:latin typeface="Urbanist"/>
                          <a:ea typeface="Urbanist"/>
                          <a:cs typeface="Urbanist"/>
                          <a:sym typeface="Urbanist"/>
                        </a:rPr>
                        <a:t>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t>A review on 3D Gaussian splatting for sparse view</a:t>
                      </a:r>
                      <a:endParaRPr/>
                    </a:p>
                    <a:p>
                      <a:pPr indent="0" lvl="0" marL="0" marR="0" rtl="0" algn="l">
                        <a:spcBef>
                          <a:spcPts val="0"/>
                        </a:spcBef>
                        <a:spcAft>
                          <a:spcPts val="0"/>
                        </a:spcAft>
                        <a:buNone/>
                      </a:pPr>
                      <a:r>
                        <a:rPr lang="en-US"/>
                        <a:t>reconstruction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Artificial Intelligence Review</a:t>
                      </a:r>
                      <a:endParaRPr b="1" u="none" cap="none" strike="noStrike">
                        <a:solidFill>
                          <a:schemeClr val="dk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a:latin typeface="Arial"/>
                          <a:ea typeface="Arial"/>
                          <a:cs typeface="Arial"/>
                          <a:sym typeface="Arial"/>
                        </a:rPr>
                        <a:t>Sparse Inputs</a:t>
                      </a:r>
                      <a:r>
                        <a:rPr lang="en-US" sz="1100">
                          <a:latin typeface="Arial"/>
                          <a:ea typeface="Arial"/>
                          <a:cs typeface="Arial"/>
                          <a:sym typeface="Arial"/>
                        </a:rPr>
                        <a:t> (Single-view, Few-shot), </a:t>
                      </a:r>
                      <a:r>
                        <a:rPr b="1" lang="en-US" sz="1100">
                          <a:latin typeface="Arial"/>
                          <a:ea typeface="Arial"/>
                          <a:cs typeface="Arial"/>
                          <a:sym typeface="Arial"/>
                        </a:rPr>
                        <a:t>Multi-dim. Feature Extract</a:t>
                      </a:r>
                      <a:r>
                        <a:rPr lang="en-US" sz="1100">
                          <a:latin typeface="Arial"/>
                          <a:ea typeface="Arial"/>
                          <a:cs typeface="Arial"/>
                          <a:sym typeface="Arial"/>
                        </a:rPr>
                        <a:t> (Point Cloud (PC), Depth Map, Semantic, Spatial), </a:t>
                      </a:r>
                      <a:r>
                        <a:rPr b="1" lang="en-US" sz="1100">
                          <a:latin typeface="Arial"/>
                          <a:ea typeface="Arial"/>
                          <a:cs typeface="Arial"/>
                          <a:sym typeface="Arial"/>
                        </a:rPr>
                        <a:t>3D GS Generation</a:t>
                      </a:r>
                      <a:r>
                        <a:rPr lang="en-US" sz="1100">
                          <a:latin typeface="Arial"/>
                          <a:ea typeface="Arial"/>
                          <a:cs typeface="Arial"/>
                          <a:sym typeface="Arial"/>
                        </a:rPr>
                        <a:t> (End-to-end, Diff. Models, Transformer), and </a:t>
                      </a:r>
                      <a:r>
                        <a:rPr b="1" lang="en-US" sz="1100">
                          <a:latin typeface="Arial"/>
                          <a:ea typeface="Arial"/>
                          <a:cs typeface="Arial"/>
                          <a:sym typeface="Arial"/>
                        </a:rPr>
                        <a:t>Anomaly Handling</a:t>
                      </a:r>
                      <a:r>
                        <a:rPr lang="en-US" sz="1100">
                          <a:latin typeface="Arial"/>
                          <a:ea typeface="Arial"/>
                          <a:cs typeface="Arial"/>
                          <a:sym typeface="Arial"/>
                        </a:rPr>
                        <a:t> (Artifact/Scale Ambiguity mitigation). Compares to </a:t>
                      </a:r>
                      <a:r>
                        <a:rPr b="1" lang="en-US" sz="1100">
                          <a:latin typeface="Arial"/>
                          <a:ea typeface="Arial"/>
                          <a:cs typeface="Arial"/>
                          <a:sym typeface="Arial"/>
                        </a:rPr>
                        <a:t>NeRF</a:t>
                      </a:r>
                      <a:endParaRPr sz="18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500"/>
                        <a:t>2025</a:t>
                      </a:r>
                      <a:endParaRPr sz="15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Superior </a:t>
                      </a:r>
                      <a:r>
                        <a:rPr b="1" lang="en-US" sz="1100">
                          <a:latin typeface="Arial"/>
                          <a:ea typeface="Arial"/>
                          <a:cs typeface="Arial"/>
                          <a:sym typeface="Arial"/>
                        </a:rPr>
                        <a:t>reconstruction quality</a:t>
                      </a:r>
                      <a:r>
                        <a:rPr lang="en-US" sz="1100">
                          <a:latin typeface="Arial"/>
                          <a:ea typeface="Arial"/>
                          <a:cs typeface="Arial"/>
                          <a:sym typeface="Arial"/>
                        </a:rPr>
                        <a:t> and high </a:t>
                      </a:r>
                      <a:r>
                        <a:rPr b="1" lang="en-US" sz="1100">
                          <a:latin typeface="Arial"/>
                          <a:ea typeface="Arial"/>
                          <a:cs typeface="Arial"/>
                          <a:sym typeface="Arial"/>
                        </a:rPr>
                        <a:t>efficiency/real-time rendering</a:t>
                      </a:r>
                      <a:r>
                        <a:rPr lang="en-US" sz="1100">
                          <a:latin typeface="Arial"/>
                          <a:ea typeface="Arial"/>
                          <a:cs typeface="Arial"/>
                          <a:sym typeface="Arial"/>
                        </a:rPr>
                        <a:t> compared to NeRF-based algorithms. Explicit representation reduces overhead in low-density scenarios.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Prone to </a:t>
                      </a:r>
                      <a:r>
                        <a:rPr b="1" lang="en-US" sz="1100">
                          <a:latin typeface="Arial"/>
                          <a:ea typeface="Arial"/>
                          <a:cs typeface="Arial"/>
                          <a:sym typeface="Arial"/>
                        </a:rPr>
                        <a:t>overfitting</a:t>
                      </a:r>
                      <a:r>
                        <a:rPr lang="en-US" sz="1100">
                          <a:latin typeface="Arial"/>
                          <a:ea typeface="Arial"/>
                          <a:cs typeface="Arial"/>
                          <a:sym typeface="Arial"/>
                        </a:rPr>
                        <a:t> in sparse views. Common issues include </a:t>
                      </a:r>
                      <a:r>
                        <a:rPr b="1" lang="en-US" sz="1100">
                          <a:latin typeface="Arial"/>
                          <a:ea typeface="Arial"/>
                          <a:cs typeface="Arial"/>
                          <a:sym typeface="Arial"/>
                        </a:rPr>
                        <a:t>artifacts</a:t>
                      </a:r>
                      <a:r>
                        <a:rPr lang="en-US" sz="1100">
                          <a:latin typeface="Arial"/>
                          <a:ea typeface="Arial"/>
                          <a:cs typeface="Arial"/>
                          <a:sym typeface="Arial"/>
                        </a:rPr>
                        <a:t> (floaters) and </a:t>
                      </a:r>
                      <a:r>
                        <a:rPr b="1" lang="en-US" sz="1100">
                          <a:latin typeface="Arial"/>
                          <a:ea typeface="Arial"/>
                          <a:cs typeface="Arial"/>
                          <a:sym typeface="Arial"/>
                        </a:rPr>
                        <a:t>scale ambiguity</a:t>
                      </a:r>
                      <a:r>
                        <a:rPr lang="en-US" sz="1100">
                          <a:latin typeface="Arial"/>
                          <a:ea typeface="Arial"/>
                          <a:cs typeface="Arial"/>
                          <a:sym typeface="Arial"/>
                        </a:rPr>
                        <a:t>. Struggles with </a:t>
                      </a:r>
                      <a:r>
                        <a:rPr b="1" lang="en-US" sz="1100">
                          <a:latin typeface="Arial"/>
                          <a:ea typeface="Arial"/>
                          <a:cs typeface="Arial"/>
                          <a:sym typeface="Arial"/>
                        </a:rPr>
                        <a:t>complex textures</a:t>
                      </a:r>
                      <a:r>
                        <a:rPr lang="en-US" sz="1100">
                          <a:latin typeface="Arial"/>
                          <a:ea typeface="Arial"/>
                          <a:cs typeface="Arial"/>
                          <a:sym typeface="Arial"/>
                        </a:rPr>
                        <a:t> and </a:t>
                      </a:r>
                      <a:r>
                        <a:rPr b="1" lang="en-US" sz="1100">
                          <a:latin typeface="Arial"/>
                          <a:ea typeface="Arial"/>
                          <a:cs typeface="Arial"/>
                          <a:sym typeface="Arial"/>
                        </a:rPr>
                        <a:t>special scenes</a:t>
                      </a:r>
                      <a:r>
                        <a:rPr lang="en-US" sz="1100">
                          <a:latin typeface="Arial"/>
                          <a:ea typeface="Arial"/>
                          <a:cs typeface="Arial"/>
                          <a:sym typeface="Arial"/>
                        </a:rPr>
                        <a:t> (e.g., specular reflections). Limitations of discrete </a:t>
                      </a:r>
                      <a:r>
                        <a:rPr b="1" lang="en-US" sz="1100">
                          <a:latin typeface="Arial"/>
                          <a:ea typeface="Arial"/>
                          <a:cs typeface="Arial"/>
                          <a:sym typeface="Arial"/>
                        </a:rPr>
                        <a:t>Gaussian representations</a:t>
                      </a:r>
                      <a:r>
                        <a:rPr lang="en-US" sz="1100">
                          <a:latin typeface="Arial"/>
                          <a:ea typeface="Arial"/>
                          <a:cs typeface="Arial"/>
                          <a:sym typeface="Arial"/>
                        </a:rPr>
                        <a:t> in dynamic scenes.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30" name="Google Shape;130;p15"/>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(1-</a:t>
            </a:r>
            <a:r>
              <a:rPr b="1" lang="en-US" sz="2850">
                <a:solidFill>
                  <a:srgbClr val="F8FAFC"/>
                </a:solidFill>
                <a:latin typeface="Urbanist"/>
                <a:ea typeface="Urbanist"/>
                <a:cs typeface="Urbanist"/>
                <a:sym typeface="Urbanist"/>
              </a:rPr>
              <a:t>3</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34" name="Shape 134"/>
        <p:cNvGrpSpPr/>
        <p:nvPr/>
      </p:nvGrpSpPr>
      <p:grpSpPr>
        <a:xfrm>
          <a:off x="0" y="0"/>
          <a:ext cx="0" cy="0"/>
          <a:chOff x="0" y="0"/>
          <a:chExt cx="0" cy="0"/>
        </a:xfrm>
      </p:grpSpPr>
      <p:pic>
        <p:nvPicPr>
          <p:cNvPr descr="image.png" id="135" name="Google Shape;135;p16"/>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36" name="Google Shape;136;p16"/>
          <p:cNvGraphicFramePr/>
          <p:nvPr/>
        </p:nvGraphicFramePr>
        <p:xfrm>
          <a:off x="580975" y="558396"/>
          <a:ext cx="3000000" cy="3000000"/>
        </p:xfrm>
        <a:graphic>
          <a:graphicData uri="http://schemas.openxmlformats.org/drawingml/2006/table">
            <a:tbl>
              <a:tblPr bandRow="1" firstRow="1">
                <a:noFill/>
                <a:tableStyleId>{1EEA75AE-5676-4B76-8E22-E3A38B899F5A}</a:tableStyleId>
              </a:tblPr>
              <a:tblGrid>
                <a:gridCol w="404625"/>
                <a:gridCol w="1922875"/>
                <a:gridCol w="1599600"/>
                <a:gridCol w="2328225"/>
                <a:gridCol w="924375"/>
                <a:gridCol w="1815825"/>
                <a:gridCol w="2298250"/>
              </a:tblGrid>
              <a:tr h="1025750">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762400">
                <a:tc>
                  <a:txBody>
                    <a:bodyPr/>
                    <a:lstStyle/>
                    <a:p>
                      <a:pPr indent="0" lvl="0" marL="0" marR="0" rtl="0" algn="l">
                        <a:spcBef>
                          <a:spcPts val="0"/>
                        </a:spcBef>
                        <a:spcAft>
                          <a:spcPts val="0"/>
                        </a:spcAft>
                        <a:buNone/>
                      </a:pPr>
                      <a:r>
                        <a:rPr lang="en-US" sz="975">
                          <a:latin typeface="Urbanist"/>
                          <a:ea typeface="Urbanist"/>
                          <a:cs typeface="Urbanist"/>
                          <a:sym typeface="Urbanist"/>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a:t>COB-GS: Clear Object Boundaries in 3DGS Segmentation Based on Boundary-Adaptive Gaussian Splitting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a:t>CVPR (Open Access version, provided by the Computer Vision Foundation)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lnSpc>
                          <a:spcPct val="115000"/>
                        </a:lnSpc>
                        <a:spcBef>
                          <a:spcPts val="1200"/>
                        </a:spcBef>
                        <a:spcAft>
                          <a:spcPts val="1200"/>
                        </a:spcAft>
                        <a:buSzPts val="1100"/>
                        <a:buNone/>
                      </a:pPr>
                      <a:r>
                        <a:rPr b="1" lang="en-US" sz="1100">
                          <a:latin typeface="Arial"/>
                          <a:ea typeface="Arial"/>
                          <a:cs typeface="Arial"/>
                          <a:sym typeface="Arial"/>
                        </a:rPr>
                        <a:t>Semantic-Aware 3DGS</a:t>
                      </a:r>
                      <a:r>
                        <a:rPr lang="en-US" sz="1100">
                          <a:latin typeface="Arial"/>
                          <a:ea typeface="Arial"/>
                          <a:cs typeface="Arial"/>
                          <a:sym typeface="Arial"/>
                        </a:rPr>
                        <a:t> – Joint optimization of semantics and visuals using Boundary-Adaptive Gaussian Splitting (BAGS), Boundary-Guided Texture Restoration (BGTR), and a two-stage mask generation pipeline based on SAM2.</a:t>
                      </a:r>
                      <a:endParaRPr b="1" sz="11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Substantially improves </a:t>
                      </a:r>
                      <a:r>
                        <a:rPr b="1" lang="en-US" sz="1100">
                          <a:latin typeface="Arial"/>
                          <a:ea typeface="Arial"/>
                          <a:cs typeface="Arial"/>
                          <a:sym typeface="Arial"/>
                        </a:rPr>
                        <a:t>segmentation accuracy</a:t>
                      </a:r>
                      <a:r>
                        <a:rPr lang="en-US" sz="1100">
                          <a:latin typeface="Arial"/>
                          <a:ea typeface="Arial"/>
                          <a:cs typeface="Arial"/>
                          <a:sym typeface="Arial"/>
                        </a:rPr>
                        <a:t> and </a:t>
                      </a:r>
                      <a:r>
                        <a:rPr b="1" lang="en-US" sz="1100">
                          <a:latin typeface="Arial"/>
                          <a:ea typeface="Arial"/>
                          <a:cs typeface="Arial"/>
                          <a:sym typeface="Arial"/>
                        </a:rPr>
                        <a:t>robustness</a:t>
                      </a:r>
                      <a:r>
                        <a:rPr lang="en-US" sz="1100">
                          <a:latin typeface="Arial"/>
                          <a:ea typeface="Arial"/>
                          <a:cs typeface="Arial"/>
                          <a:sym typeface="Arial"/>
                        </a:rPr>
                        <a:t> against inaccurate masks. Yields </a:t>
                      </a:r>
                      <a:r>
                        <a:rPr b="1" lang="en-US" sz="1100">
                          <a:latin typeface="Arial"/>
                          <a:ea typeface="Arial"/>
                          <a:cs typeface="Arial"/>
                          <a:sym typeface="Arial"/>
                        </a:rPr>
                        <a:t>clear boundaries</a:t>
                      </a:r>
                      <a:r>
                        <a:rPr lang="en-US" sz="1100">
                          <a:latin typeface="Arial"/>
                          <a:ea typeface="Arial"/>
                          <a:cs typeface="Arial"/>
                          <a:sym typeface="Arial"/>
                        </a:rPr>
                        <a:t> while </a:t>
                      </a:r>
                      <a:r>
                        <a:rPr b="1" lang="en-US" sz="1100">
                          <a:latin typeface="Arial"/>
                          <a:ea typeface="Arial"/>
                          <a:cs typeface="Arial"/>
                          <a:sym typeface="Arial"/>
                        </a:rPr>
                        <a:t>preserving high visual quality</a:t>
                      </a:r>
                      <a:r>
                        <a:rPr lang="en-US" sz="1100">
                          <a:latin typeface="Arial"/>
                          <a:ea typeface="Arial"/>
                          <a:cs typeface="Arial"/>
                          <a:sym typeface="Arial"/>
                        </a:rPr>
                        <a:t>.</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Current work is subject to </a:t>
                      </a:r>
                      <a:r>
                        <a:rPr b="1" lang="en-US" sz="1100">
                          <a:latin typeface="Arial"/>
                          <a:ea typeface="Arial"/>
                          <a:cs typeface="Arial"/>
                          <a:sym typeface="Arial"/>
                        </a:rPr>
                        <a:t>floating artifacts</a:t>
                      </a:r>
                      <a:r>
                        <a:rPr lang="en-US" sz="1100">
                          <a:latin typeface="Arial"/>
                          <a:ea typeface="Arial"/>
                          <a:cs typeface="Arial"/>
                          <a:sym typeface="Arial"/>
                        </a:rPr>
                        <a:t> which are magnified after segmentation (future work focus).</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75375">
                <a:tc>
                  <a:txBody>
                    <a:bodyPr/>
                    <a:lstStyle/>
                    <a:p>
                      <a:pPr indent="0" lvl="0" marL="0" marR="0" rtl="0" algn="l">
                        <a:spcBef>
                          <a:spcPts val="0"/>
                        </a:spcBef>
                        <a:spcAft>
                          <a:spcPts val="0"/>
                        </a:spcAft>
                        <a:buNone/>
                      </a:pPr>
                      <a:r>
                        <a:rPr lang="en-US" sz="975">
                          <a:latin typeface="Urbanist"/>
                          <a:ea typeface="Urbanist"/>
                          <a:cs typeface="Urbanist"/>
                          <a:sym typeface="Urbanist"/>
                        </a:rPr>
                        <a:t>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a:t>EVSplitting: An Efficient and Visually Consistent Splitting Algorithm for 3D Gaussian Splatting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500"/>
                    </a:p>
                    <a:p>
                      <a:pPr indent="0" lvl="0" marL="0" rtl="0" algn="l">
                        <a:spcBef>
                          <a:spcPts val="0"/>
                        </a:spcBef>
                        <a:spcAft>
                          <a:spcPts val="0"/>
                        </a:spcAft>
                        <a:buNone/>
                      </a:pPr>
                      <a:r>
                        <a:rPr lang="en-US" sz="1500"/>
                        <a:t>SA Conference Papers</a:t>
                      </a:r>
                      <a:endParaRPr sz="1500"/>
                    </a:p>
                    <a:p>
                      <a:pPr indent="0" lvl="0" marL="0" rtl="0" algn="l">
                        <a:spcBef>
                          <a:spcPts val="0"/>
                        </a:spcBef>
                        <a:spcAft>
                          <a:spcPts val="0"/>
                        </a:spcAft>
                        <a:buNone/>
                      </a:pPr>
                      <a:r>
                        <a:t/>
                      </a:r>
                      <a:endParaRPr sz="1800"/>
                    </a:p>
                    <a:p>
                      <a:pPr indent="0" lvl="0" marL="0" marR="0" rtl="0" algn="l">
                        <a:spcBef>
                          <a:spcPts val="0"/>
                        </a:spcBef>
                        <a:spcAft>
                          <a:spcPts val="0"/>
                        </a:spcAft>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US" sz="1100">
                          <a:latin typeface="Arial"/>
                          <a:ea typeface="Arial"/>
                          <a:cs typeface="Arial"/>
                          <a:sym typeface="Arial"/>
                        </a:rPr>
                        <a:t>EVSplitting: Algorithm for 3DGS splitting that solves two minimization problems: ensuring Visual Consistency and reducing Gaussian Overflow, used for explicit operations like engraving and point cloud uniformization.</a:t>
                      </a:r>
                      <a:endParaRPr sz="18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b="1" lang="en-US" sz="1100">
                          <a:latin typeface="Arial"/>
                          <a:ea typeface="Arial"/>
                          <a:cs typeface="Arial"/>
                          <a:sym typeface="Arial"/>
                        </a:rPr>
                        <a:t>Efficient</a:t>
                      </a:r>
                      <a:r>
                        <a:rPr lang="en-US" sz="1100">
                          <a:latin typeface="Arial"/>
                          <a:ea typeface="Arial"/>
                          <a:cs typeface="Arial"/>
                          <a:sym typeface="Arial"/>
                        </a:rPr>
                        <a:t> and </a:t>
                      </a:r>
                      <a:r>
                        <a:rPr b="1" lang="en-US" sz="1100">
                          <a:latin typeface="Arial"/>
                          <a:ea typeface="Arial"/>
                          <a:cs typeface="Arial"/>
                          <a:sym typeface="Arial"/>
                        </a:rPr>
                        <a:t>visually consistent</a:t>
                      </a:r>
                      <a:r>
                        <a:rPr lang="en-US" sz="1100">
                          <a:latin typeface="Arial"/>
                          <a:ea typeface="Arial"/>
                          <a:cs typeface="Arial"/>
                          <a:sym typeface="Arial"/>
                        </a:rPr>
                        <a:t> split. Produces </a:t>
                      </a:r>
                      <a:r>
                        <a:rPr b="1" lang="en-US" sz="1100">
                          <a:latin typeface="Arial"/>
                          <a:ea typeface="Arial"/>
                          <a:cs typeface="Arial"/>
                          <a:sym typeface="Arial"/>
                        </a:rPr>
                        <a:t>clearer boundaries</a:t>
                      </a:r>
                      <a:r>
                        <a:rPr lang="en-US" sz="1100">
                          <a:latin typeface="Arial"/>
                          <a:ea typeface="Arial"/>
                          <a:cs typeface="Arial"/>
                          <a:sym typeface="Arial"/>
                        </a:rPr>
                        <a:t> and consistent visual appearance. </a:t>
                      </a:r>
                      <a:r>
                        <a:rPr b="1" lang="en-US" sz="1100">
                          <a:latin typeface="Arial"/>
                          <a:ea typeface="Arial"/>
                          <a:cs typeface="Arial"/>
                          <a:sym typeface="Arial"/>
                        </a:rPr>
                        <a:t>Faster</a:t>
                      </a:r>
                      <a:r>
                        <a:rPr lang="en-US" sz="1100">
                          <a:latin typeface="Arial"/>
                          <a:ea typeface="Arial"/>
                          <a:cs typeface="Arial"/>
                          <a:sym typeface="Arial"/>
                        </a:rPr>
                        <a:t> than Gaussian Mixture Models (GMMs). Leads to </a:t>
                      </a:r>
                      <a:r>
                        <a:rPr b="1" lang="en-US" sz="1100">
                          <a:latin typeface="Arial"/>
                          <a:ea typeface="Arial"/>
                          <a:cs typeface="Arial"/>
                          <a:sym typeface="Arial"/>
                        </a:rPr>
                        <a:t>denser/more uniform Point Clouds</a:t>
                      </a:r>
                      <a:r>
                        <a:rPr lang="en-US" sz="1100">
                          <a:latin typeface="Arial"/>
                          <a:ea typeface="Arial"/>
                          <a:cs typeface="Arial"/>
                          <a:sym typeface="Arial"/>
                        </a:rPr>
                        <a:t>.</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b="1" lang="en-US" sz="1100">
                          <a:latin typeface="Arial"/>
                          <a:ea typeface="Arial"/>
                          <a:cs typeface="Arial"/>
                          <a:sym typeface="Arial"/>
                        </a:rPr>
                        <a:t>Straightforward splitting</a:t>
                      </a:r>
                      <a:r>
                        <a:rPr lang="en-US" sz="1100">
                          <a:latin typeface="Arial"/>
                          <a:ea typeface="Arial"/>
                          <a:cs typeface="Arial"/>
                          <a:sym typeface="Arial"/>
                        </a:rPr>
                        <a:t> causes blurs, bulges, and holes. </a:t>
                      </a:r>
                      <a:r>
                        <a:rPr b="1" lang="en-US" sz="1100">
                          <a:latin typeface="Arial"/>
                          <a:ea typeface="Arial"/>
                          <a:cs typeface="Arial"/>
                          <a:sym typeface="Arial"/>
                        </a:rPr>
                        <a:t>Floating point precision errors</a:t>
                      </a:r>
                      <a:r>
                        <a:rPr lang="en-US" sz="1100">
                          <a:latin typeface="Arial"/>
                          <a:ea typeface="Arial"/>
                          <a:cs typeface="Arial"/>
                          <a:sym typeface="Arial"/>
                        </a:rPr>
                        <a:t> can accumulate over continuous splitting/editing operations.</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286500">
                <a:tc>
                  <a:txBody>
                    <a:bodyPr/>
                    <a:lstStyle/>
                    <a:p>
                      <a:pPr indent="0" lvl="0" marL="0" rtl="0" algn="l">
                        <a:spcBef>
                          <a:spcPts val="0"/>
                        </a:spcBef>
                        <a:spcAft>
                          <a:spcPts val="0"/>
                        </a:spcAft>
                        <a:buNone/>
                      </a:pPr>
                      <a:r>
                        <a:rPr lang="en-US" sz="950"/>
                        <a:t>6</a:t>
                      </a:r>
                      <a:endParaRPr sz="95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a:t>NeRF: Neural Radiance Field in 3D Vision: 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Comprehensive Review</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ECCV</a:t>
                      </a:r>
                      <a:endParaRPr b="1" u="none" cap="none" strike="noStrike">
                        <a:solidFill>
                          <a:schemeClr val="dk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300"/>
                        <a:t>Implicit, neural network-based scene representation using differentiable volume rendering with MLPs.</a:t>
                      </a:r>
                      <a:endParaRPr sz="1300"/>
                    </a:p>
                    <a:p>
                      <a:pPr indent="0" lvl="0" marL="0" rtl="0" algn="l">
                        <a:spcBef>
                          <a:spcPts val="0"/>
                        </a:spcBef>
                        <a:spcAft>
                          <a:spcPts val="0"/>
                        </a:spcAft>
                        <a:buSzPts val="1100"/>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500"/>
                        <a:t>2025</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t>Revolutionized Computer Vision; self-supervised (only requires multi-view images and poses); produces state-of-the-art visual quality; low storage and memory requirements.</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t>Fully implicit methods take two to three orders of magnitude longer to train; fully implicit methods render slower by orders of magnitude; extracting an explicit 3D representation is more difficult</a:t>
                      </a:r>
                      <a:r>
                        <a:rPr lang="en-US" sz="1800"/>
                        <a:t>.</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37" name="Google Shape;137;p16"/>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a:t>
            </a:r>
            <a:r>
              <a:rPr b="1" lang="en-US" sz="2850">
                <a:solidFill>
                  <a:srgbClr val="F8FAFC"/>
                </a:solidFill>
                <a:latin typeface="Urbanist"/>
                <a:ea typeface="Urbanist"/>
                <a:cs typeface="Urbanist"/>
                <a:sym typeface="Urbanist"/>
              </a:rPr>
              <a:t>4-6</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41" name="Shape 141"/>
        <p:cNvGrpSpPr/>
        <p:nvPr/>
      </p:nvGrpSpPr>
      <p:grpSpPr>
        <a:xfrm>
          <a:off x="0" y="0"/>
          <a:ext cx="0" cy="0"/>
          <a:chOff x="0" y="0"/>
          <a:chExt cx="0" cy="0"/>
        </a:xfrm>
      </p:grpSpPr>
      <p:pic>
        <p:nvPicPr>
          <p:cNvPr descr="image.png" id="142" name="Google Shape;142;p17"/>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43" name="Google Shape;143;p17"/>
          <p:cNvGraphicFramePr/>
          <p:nvPr/>
        </p:nvGraphicFramePr>
        <p:xfrm>
          <a:off x="580975" y="633271"/>
          <a:ext cx="3000000" cy="3000000"/>
        </p:xfrm>
        <a:graphic>
          <a:graphicData uri="http://schemas.openxmlformats.org/drawingml/2006/table">
            <a:tbl>
              <a:tblPr bandRow="1" firstRow="1">
                <a:noFill/>
                <a:tableStyleId>{1EEA75AE-5676-4B76-8E22-E3A38B899F5A}</a:tableStyleId>
              </a:tblPr>
              <a:tblGrid>
                <a:gridCol w="404625"/>
                <a:gridCol w="1922875"/>
                <a:gridCol w="1599600"/>
                <a:gridCol w="2328225"/>
                <a:gridCol w="924375"/>
                <a:gridCol w="1815825"/>
                <a:gridCol w="2298250"/>
              </a:tblGrid>
              <a:tr h="945500">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624500">
                <a:tc>
                  <a:txBody>
                    <a:bodyPr/>
                    <a:lstStyle/>
                    <a:p>
                      <a:pPr indent="0" lvl="0" marL="0" marR="0" rtl="0" algn="l">
                        <a:spcBef>
                          <a:spcPts val="0"/>
                        </a:spcBef>
                        <a:spcAft>
                          <a:spcPts val="0"/>
                        </a:spcAft>
                        <a:buNone/>
                      </a:pPr>
                      <a:r>
                        <a:rPr lang="en-US" sz="975">
                          <a:latin typeface="Urbanist"/>
                          <a:ea typeface="Urbanist"/>
                          <a:cs typeface="Urbanist"/>
                          <a:sym typeface="Urbanist"/>
                        </a:rPr>
                        <a:t>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t>Neural Pruning for 3D Scene Reconstruction:</a:t>
                      </a:r>
                      <a:endParaRPr/>
                    </a:p>
                    <a:p>
                      <a:pPr indent="0" lvl="0" marL="0" marR="0" rtl="0" algn="l">
                        <a:spcBef>
                          <a:spcPts val="0"/>
                        </a:spcBef>
                        <a:spcAft>
                          <a:spcPts val="0"/>
                        </a:spcAft>
                        <a:buNone/>
                      </a:pPr>
                      <a:r>
                        <a:rPr lang="en-US"/>
                        <a:t>Efficient NeRF Acceleration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arXiv</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300"/>
                        <a:t>Studies neural pruning strategies (uniform sampling, importance-based, and coreset-based techniques) to reduce the model size and speed up training of NeRF models.</a:t>
                      </a:r>
                      <a:endParaRPr sz="1300"/>
                    </a:p>
                    <a:p>
                      <a:pPr indent="0" lvl="0" marL="0" marR="0" rtl="0" algn="l">
                        <a:spcBef>
                          <a:spcPts val="0"/>
                        </a:spcBef>
                        <a:spcAft>
                          <a:spcPts val="0"/>
                        </a:spcAft>
                        <a:buNone/>
                      </a:pPr>
                      <a:r>
                        <a:t/>
                      </a:r>
                      <a:endParaRPr sz="9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300">
                          <a:latin typeface="Arial"/>
                          <a:ea typeface="Arial"/>
                          <a:cs typeface="Arial"/>
                          <a:sym typeface="Arial"/>
                        </a:rPr>
                        <a:t>Coreset-driven pruning can achieve a </a:t>
                      </a:r>
                      <a:r>
                        <a:rPr b="1" lang="en-US" sz="1300">
                          <a:latin typeface="Arial"/>
                          <a:ea typeface="Arial"/>
                          <a:cs typeface="Arial"/>
                          <a:sym typeface="Arial"/>
                        </a:rPr>
                        <a:t>50% reduction in model size</a:t>
                      </a:r>
                      <a:r>
                        <a:rPr lang="en-US" sz="1300">
                          <a:latin typeface="Arial"/>
                          <a:ea typeface="Arial"/>
                          <a:cs typeface="Arial"/>
                          <a:sym typeface="Arial"/>
                        </a:rPr>
                        <a:t> and a </a:t>
                      </a:r>
                      <a:r>
                        <a:rPr b="1" lang="en-US" sz="1300">
                          <a:latin typeface="Arial"/>
                          <a:ea typeface="Arial"/>
                          <a:cs typeface="Arial"/>
                          <a:sym typeface="Arial"/>
                        </a:rPr>
                        <a:t>35% speedup in training</a:t>
                      </a:r>
                      <a:r>
                        <a:rPr lang="en-US" sz="1300">
                          <a:latin typeface="Arial"/>
                          <a:ea typeface="Arial"/>
                          <a:cs typeface="Arial"/>
                          <a:sym typeface="Arial"/>
                        </a:rPr>
                        <a:t>.</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300"/>
                        <a:t>NeRF models demand lengthy training times, often spanning days. Pruning via coreset methods results in only a slight decrease in accuracy.</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69925">
                <a:tc>
                  <a:txBody>
                    <a:bodyPr/>
                    <a:lstStyle/>
                    <a:p>
                      <a:pPr indent="0" lvl="0" marL="0" marR="0" rtl="0" algn="l">
                        <a:spcBef>
                          <a:spcPts val="0"/>
                        </a:spcBef>
                        <a:spcAft>
                          <a:spcPts val="0"/>
                        </a:spcAft>
                        <a:buNone/>
                      </a:pPr>
                      <a:r>
                        <a:rPr lang="en-US" sz="975">
                          <a:latin typeface="Urbanist"/>
                          <a:ea typeface="Urbanist"/>
                          <a:cs typeface="Urbanist"/>
                          <a:sym typeface="Urbanist"/>
                        </a:rPr>
                        <a:t>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US"/>
                        <a:t>DT-NeRF: A Diffusion and Transformer-Based</a:t>
                      </a:r>
                      <a:endParaRPr/>
                    </a:p>
                    <a:p>
                      <a:pPr indent="0" lvl="0" marL="0" rtl="0" algn="l">
                        <a:spcBef>
                          <a:spcPts val="0"/>
                        </a:spcBef>
                        <a:spcAft>
                          <a:spcPts val="0"/>
                        </a:spcAft>
                        <a:buClr>
                          <a:schemeClr val="dk1"/>
                        </a:buClr>
                        <a:buSzPts val="1100"/>
                        <a:buFont typeface="Arial"/>
                        <a:buNone/>
                      </a:pPr>
                      <a:r>
                        <a:rPr lang="en-US"/>
                        <a:t>Optimization Approach for Neural Radiance Fields in 3D</a:t>
                      </a:r>
                      <a:endParaRPr/>
                    </a:p>
                    <a:p>
                      <a:pPr indent="0" lvl="0" marL="0" marR="0" rtl="0" algn="l">
                        <a:spcBef>
                          <a:spcPts val="0"/>
                        </a:spcBef>
                        <a:spcAft>
                          <a:spcPts val="0"/>
                        </a:spcAft>
                        <a:buNone/>
                      </a:pPr>
                      <a:r>
                        <a:rPr lang="en-US"/>
                        <a:t>Reconstruction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500"/>
                    </a:p>
                    <a:p>
                      <a:pPr indent="0" lvl="0" marL="0" rtl="0" algn="l">
                        <a:spcBef>
                          <a:spcPts val="0"/>
                        </a:spcBef>
                        <a:spcAft>
                          <a:spcPts val="0"/>
                        </a:spcAft>
                        <a:buNone/>
                      </a:pPr>
                      <a:r>
                        <a:rPr lang="en-US" sz="1500"/>
                        <a:t>ICCK Transactions on Intelligent Systematics</a:t>
                      </a:r>
                      <a:endParaRPr sz="1500"/>
                    </a:p>
                    <a:p>
                      <a:pPr indent="0" lvl="0" marL="0" rtl="0" algn="l">
                        <a:spcBef>
                          <a:spcPts val="0"/>
                        </a:spcBef>
                        <a:spcAft>
                          <a:spcPts val="0"/>
                        </a:spcAft>
                        <a:buNone/>
                      </a:pPr>
                      <a:r>
                        <a:t/>
                      </a:r>
                      <a:endParaRPr sz="1800"/>
                    </a:p>
                    <a:p>
                      <a:pPr indent="0" lvl="0" marL="0" marR="0" rtl="0" algn="l">
                        <a:spcBef>
                          <a:spcPts val="0"/>
                        </a:spcBef>
                        <a:spcAft>
                          <a:spcPts val="0"/>
                        </a:spcAft>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sz="1300"/>
                        <a:t>Proposes a Diffusion Model-Optimized Neural Radiance Field (DT-NeRF) method by combining diffusion models with Transformers.</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sz="1100"/>
                        <a:t>Significantly outperforms traditional NeRF and other state-of-the-art methods on datasets like Matterport3D and ShapeNet in metrics such as PSNR, SSIM, Chamfer Distance, and Fidelity. Effective at restoring details under sparse viewpoints and maintaining high accuracy in complex geometric scenes.</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sz="1100">
                          <a:latin typeface="Arial"/>
                          <a:ea typeface="Arial"/>
                          <a:cs typeface="Arial"/>
                          <a:sym typeface="Arial"/>
                        </a:rPr>
                        <a:t>Increased computational cost and time due to joint optimization and extra modules, which challenges scalability to large-scale, dynamic scenes and real-time rendering.</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185850">
                <a:tc>
                  <a:txBody>
                    <a:bodyPr/>
                    <a:lstStyle/>
                    <a:p>
                      <a:pPr indent="0" lvl="0" marL="0" marR="0" rtl="0" algn="l">
                        <a:spcBef>
                          <a:spcPts val="0"/>
                        </a:spcBef>
                        <a:spcAft>
                          <a:spcPts val="0"/>
                        </a:spcAft>
                        <a:buNone/>
                      </a:pPr>
                      <a:r>
                        <a:rPr lang="en-US" sz="975">
                          <a:latin typeface="Urbanist"/>
                          <a:ea typeface="Urbanist"/>
                          <a:cs typeface="Urbanist"/>
                          <a:sym typeface="Urbanist"/>
                        </a:rPr>
                        <a:t>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t>High-Precision Visual SLAM for Dynamic Scenes Using</a:t>
                      </a:r>
                      <a:endParaRPr/>
                    </a:p>
                    <a:p>
                      <a:pPr indent="0" lvl="0" marL="0" marR="0" rtl="0" algn="l">
                        <a:spcBef>
                          <a:spcPts val="0"/>
                        </a:spcBef>
                        <a:spcAft>
                          <a:spcPts val="0"/>
                        </a:spcAft>
                        <a:buNone/>
                      </a:pPr>
                      <a:r>
                        <a:rPr lang="en-US"/>
                        <a:t>Semantic–Geometric Feature Filtering and NeRF Maps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Electronics (MDPI)</a:t>
                      </a:r>
                      <a:endParaRPr u="none" cap="none" strike="noStrike">
                        <a:solidFill>
                          <a:schemeClr val="dk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300"/>
                        <a:t>SLAM integrates: Image Enhancement, Quantized Feature Detection, Semantic-Geometric Dynamic Filtering, and NeRF-based Static Reconstruction.</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500"/>
                        <a:t>2025</a:t>
                      </a:r>
                      <a:endParaRPr sz="15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Achieves </a:t>
                      </a:r>
                      <a:r>
                        <a:rPr b="1" lang="en-US" sz="1100">
                          <a:latin typeface="Arial"/>
                          <a:ea typeface="Arial"/>
                          <a:cs typeface="Arial"/>
                          <a:sym typeface="Arial"/>
                        </a:rPr>
                        <a:t>93.4% average RMSE reduction</a:t>
                      </a:r>
                      <a:r>
                        <a:rPr lang="en-US" sz="1100">
                          <a:latin typeface="Arial"/>
                          <a:ea typeface="Arial"/>
                          <a:cs typeface="Arial"/>
                          <a:sym typeface="Arial"/>
                        </a:rPr>
                        <a:t> vs. ORB-SLAM3. High accuracy, robustness, and adaptability.</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300"/>
                        <a:t>Primarily evaluated on indoor data; limited generalization to large-scale outdoor or rapid motion scenarios.</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44" name="Google Shape;144;p17"/>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a:t>
            </a:r>
            <a:r>
              <a:rPr b="1" lang="en-US" sz="2850">
                <a:solidFill>
                  <a:srgbClr val="F8FAFC"/>
                </a:solidFill>
                <a:latin typeface="Urbanist"/>
                <a:ea typeface="Urbanist"/>
                <a:cs typeface="Urbanist"/>
                <a:sym typeface="Urbanist"/>
              </a:rPr>
              <a:t>7-9</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48" name="Shape 148"/>
        <p:cNvGrpSpPr/>
        <p:nvPr/>
      </p:nvGrpSpPr>
      <p:grpSpPr>
        <a:xfrm>
          <a:off x="0" y="0"/>
          <a:ext cx="0" cy="0"/>
          <a:chOff x="0" y="0"/>
          <a:chExt cx="0" cy="0"/>
        </a:xfrm>
      </p:grpSpPr>
      <p:pic>
        <p:nvPicPr>
          <p:cNvPr descr="image.png" id="149" name="Google Shape;149;p18"/>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50" name="Google Shape;150;p18"/>
          <p:cNvGraphicFramePr/>
          <p:nvPr/>
        </p:nvGraphicFramePr>
        <p:xfrm>
          <a:off x="580975" y="633271"/>
          <a:ext cx="3000000" cy="3000000"/>
        </p:xfrm>
        <a:graphic>
          <a:graphicData uri="http://schemas.openxmlformats.org/drawingml/2006/table">
            <a:tbl>
              <a:tblPr bandRow="1" firstRow="1">
                <a:noFill/>
                <a:tableStyleId>{1EEA75AE-5676-4B76-8E22-E3A38B899F5A}</a:tableStyleId>
              </a:tblPr>
              <a:tblGrid>
                <a:gridCol w="404625"/>
                <a:gridCol w="1922875"/>
                <a:gridCol w="1599600"/>
                <a:gridCol w="2328225"/>
                <a:gridCol w="924375"/>
                <a:gridCol w="1815825"/>
                <a:gridCol w="2298250"/>
              </a:tblGrid>
              <a:tr h="945500">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624500">
                <a:tc>
                  <a:txBody>
                    <a:bodyPr/>
                    <a:lstStyle/>
                    <a:p>
                      <a:pPr indent="0" lvl="0" marL="0" marR="0" rtl="0" algn="l">
                        <a:spcBef>
                          <a:spcPts val="0"/>
                        </a:spcBef>
                        <a:spcAft>
                          <a:spcPts val="0"/>
                        </a:spcAft>
                        <a:buNone/>
                      </a:pPr>
                      <a:r>
                        <a:rPr lang="en-US" sz="975">
                          <a:latin typeface="Urbanist"/>
                          <a:ea typeface="Urbanist"/>
                          <a:cs typeface="Urbanist"/>
                          <a:sym typeface="Urbanist"/>
                        </a:rPr>
                        <a:t>10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a:t>AE-NeRF: Augmenting Event-Based Neural Radiance Fields for Non-ideal Conditions and Larger Scenes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a:t>The Thirty-Ninth AAAI Conference on Artificial Intelligence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lnSpc>
                          <a:spcPct val="115000"/>
                        </a:lnSpc>
                        <a:spcBef>
                          <a:spcPts val="1200"/>
                        </a:spcBef>
                        <a:spcAft>
                          <a:spcPts val="1200"/>
                        </a:spcAft>
                        <a:buSzPts val="1100"/>
                        <a:buNone/>
                      </a:pPr>
                      <a:r>
                        <a:rPr b="1" lang="en-US" sz="1100">
                          <a:latin typeface="Arial"/>
                          <a:ea typeface="Arial"/>
                          <a:cs typeface="Arial"/>
                          <a:sym typeface="Arial"/>
                        </a:rPr>
                        <a:t>AE-NeRF Framework</a:t>
                      </a:r>
                      <a:r>
                        <a:rPr lang="en-US" sz="1100">
                          <a:latin typeface="Arial"/>
                          <a:ea typeface="Arial"/>
                          <a:cs typeface="Arial"/>
                          <a:sym typeface="Arial"/>
                        </a:rPr>
                        <a:t> – Joint pose–NeRF optimization with pose correction, hierarchical event distillation for large scenes, normalized multi-loss training, and learning-based color correction.</a:t>
                      </a:r>
                      <a:endParaRPr sz="11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lnSpc>
                          <a:spcPct val="115000"/>
                        </a:lnSpc>
                        <a:spcBef>
                          <a:spcPts val="1200"/>
                        </a:spcBef>
                        <a:spcAft>
                          <a:spcPts val="1200"/>
                        </a:spcAft>
                        <a:buSzPts val="1100"/>
                        <a:buNone/>
                      </a:pPr>
                      <a:r>
                        <a:rPr lang="en-US" sz="1100">
                          <a:latin typeface="Arial"/>
                          <a:ea typeface="Arial"/>
                          <a:cs typeface="Arial"/>
                          <a:sym typeface="Arial"/>
                        </a:rPr>
                        <a:t>State-of-the-art event-based 3D reconstruction, robust to pose errors and sparse events, scales to large scenes, and delivers sharper renderings with cleaner geometry</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The notable improvement demonstrated by the method is </a:t>
                      </a:r>
                      <a:r>
                        <a:rPr b="1" lang="en-US" sz="1100">
                          <a:latin typeface="Arial"/>
                          <a:ea typeface="Arial"/>
                          <a:cs typeface="Arial"/>
                          <a:sym typeface="Arial"/>
                        </a:rPr>
                        <a:t>less pronounced in object-level scenes</a:t>
                      </a:r>
                      <a:r>
                        <a:rPr lang="en-US" sz="1100">
                          <a:latin typeface="Arial"/>
                          <a:ea typeface="Arial"/>
                          <a:cs typeface="Arial"/>
                          <a:sym typeface="Arial"/>
                        </a:rPr>
                        <a:t> compared to its performance in large-scale scenes.</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45250">
                <a:tc>
                  <a:txBody>
                    <a:bodyPr/>
                    <a:lstStyle/>
                    <a:p>
                      <a:pPr indent="0" lvl="0" marL="0" marR="0" rtl="0" algn="l">
                        <a:spcBef>
                          <a:spcPts val="0"/>
                        </a:spcBef>
                        <a:spcAft>
                          <a:spcPts val="0"/>
                        </a:spcAft>
                        <a:buNone/>
                      </a:pPr>
                      <a:r>
                        <a:rPr lang="en-US" sz="975">
                          <a:latin typeface="Urbanist"/>
                          <a:ea typeface="Urbanist"/>
                          <a:cs typeface="Urbanist"/>
                          <a:sym typeface="Urbanist"/>
                        </a:rPr>
                        <a:t>11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a:t>Flow-NeRF: Joint Learning of Geometry, Poses, and Dense Flow within Unified Neural Representations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500"/>
                    </a:p>
                    <a:p>
                      <a:pPr indent="0" lvl="0" marL="0" rtl="0" algn="l">
                        <a:spcBef>
                          <a:spcPts val="0"/>
                        </a:spcBef>
                        <a:spcAft>
                          <a:spcPts val="0"/>
                        </a:spcAft>
                        <a:buNone/>
                      </a:pPr>
                      <a:r>
                        <a:rPr lang="en-US" sz="1800"/>
                        <a:t>CVPR</a:t>
                      </a:r>
                      <a:endParaRPr sz="1800"/>
                    </a:p>
                    <a:p>
                      <a:pPr indent="0" lvl="0" marL="0" marR="0" rtl="0" algn="l">
                        <a:spcBef>
                          <a:spcPts val="0"/>
                        </a:spcBef>
                        <a:spcAft>
                          <a:spcPts val="0"/>
                        </a:spcAft>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1200"/>
                        </a:spcAft>
                        <a:buSzPts val="1100"/>
                        <a:buNone/>
                      </a:pPr>
                      <a:r>
                        <a:rPr lang="en-US" sz="1100">
                          <a:latin typeface="Arial"/>
                          <a:ea typeface="Arial"/>
                          <a:cs typeface="Arial"/>
                          <a:sym typeface="Arial"/>
                        </a:rPr>
                        <a:t>Unified optimization of geometry, poses, and dense optical flow using pose-conditioned bijective flow mapping, flow-to-geometry feature message passing, and shared point sampling</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sz="1100"/>
                        <a:t>Outperforms prior methods in novel-view synthesis and depth estimation, enables pose-free novel-view image/depth/flow inference, produces accurate long-range flow, and significantly improves geometry via flow-based feature distillation.</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sz="1300"/>
                        <a:t>Assumes static scenes (camera-induced flow only), depends on RAFT-based pseudo-flow supervision, and achieves pose estimation comparable to (but not surpassing) Nope-NeRF overall.</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185850">
                <a:tc>
                  <a:txBody>
                    <a:bodyPr/>
                    <a:lstStyle/>
                    <a:p>
                      <a:pPr indent="0" lvl="0" marL="0" marR="0" rtl="0" algn="l">
                        <a:spcBef>
                          <a:spcPts val="0"/>
                        </a:spcBef>
                        <a:spcAft>
                          <a:spcPts val="0"/>
                        </a:spcAft>
                        <a:buNone/>
                      </a:pPr>
                      <a:r>
                        <a:rPr lang="en-US" sz="975">
                          <a:latin typeface="Urbanist"/>
                          <a:ea typeface="Urbanist"/>
                          <a:cs typeface="Urbanist"/>
                          <a:sym typeface="Urbanist"/>
                        </a:rPr>
                        <a:t>12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a:t>A Survey of 3D Reconstruction: The Evolution from Multi-View Geometry to NeRF and 3DGS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Sensors(MDPI)</a:t>
                      </a:r>
                      <a:endParaRPr u="none" cap="none" strike="noStrike">
                        <a:solidFill>
                          <a:schemeClr val="dk1"/>
                        </a:solidFill>
                      </a:endParaRPr>
                    </a:p>
                  </a:txBody>
                  <a:tcPr marT="91425" marB="91425" marR="91425" marL="914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lnSpc>
                          <a:spcPct val="115000"/>
                        </a:lnSpc>
                        <a:spcBef>
                          <a:spcPts val="1200"/>
                        </a:spcBef>
                        <a:spcAft>
                          <a:spcPts val="1200"/>
                        </a:spcAft>
                        <a:buSzPts val="1100"/>
                        <a:buNone/>
                      </a:pPr>
                      <a:r>
                        <a:rPr b="1" lang="en-US" sz="1100">
                          <a:latin typeface="Arial"/>
                          <a:ea typeface="Arial"/>
                          <a:cs typeface="Arial"/>
                          <a:sym typeface="Arial"/>
                        </a:rPr>
                        <a:t>3D Reconstruction Survey</a:t>
                      </a:r>
                      <a:r>
                        <a:rPr lang="en-US" sz="1100">
                          <a:latin typeface="Arial"/>
                          <a:ea typeface="Arial"/>
                          <a:cs typeface="Arial"/>
                          <a:sym typeface="Arial"/>
                        </a:rPr>
                        <a:t> – Review of SfM/MVS, NeRF, and 3DGS with comparative analysis of quality, efficiency, sparse-view support, and dynamic scenes.</a:t>
                      </a:r>
                      <a:endParaRPr sz="1100">
                        <a:latin typeface="Arial"/>
                        <a:ea typeface="Arial"/>
                        <a:cs typeface="Arial"/>
                        <a:sym typeface="Arial"/>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500"/>
                        <a:t>2025</a:t>
                      </a:r>
                      <a:endParaRPr sz="1500" u="none" cap="none" strike="noStrike">
                        <a:solidFill>
                          <a:schemeClr val="dk1"/>
                        </a:solidFill>
                        <a:latin typeface="Calibri"/>
                        <a:ea typeface="Calibri"/>
                        <a:cs typeface="Calibri"/>
                        <a:sym typeface="Calibri"/>
                      </a:endParaRPr>
                    </a:p>
                  </a:txBody>
                  <a:tcPr marT="25400" marB="25400" marR="63500" marL="63500" anchor="ctr">
                    <a:lnL cap="flat" cmpd="sng" w="12700">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t>Comprehensive researcher-oriented survey tracing evolution from SfM/MVS to NeRF and 3DGS, providing multi-dimensional comparison of strengths and limitations, and outlining key challenges and future research directions.</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300"/>
                        <a:t>High memory/storage cost for large-scale scenes, dependence on accurate SfM camera poses, and limited stability in dynamic scenes and cross-scene generalization.</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51" name="Google Shape;151;p18"/>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a:t>
            </a:r>
            <a:r>
              <a:rPr b="1" lang="en-US" sz="2850">
                <a:solidFill>
                  <a:srgbClr val="F8FAFC"/>
                </a:solidFill>
                <a:latin typeface="Urbanist"/>
                <a:ea typeface="Urbanist"/>
                <a:cs typeface="Urbanist"/>
                <a:sym typeface="Urbanist"/>
              </a:rPr>
              <a:t>10</a:t>
            </a:r>
            <a:r>
              <a:rPr b="1" lang="en-US" sz="2850">
                <a:solidFill>
                  <a:srgbClr val="F8FAFC"/>
                </a:solidFill>
                <a:latin typeface="Urbanist"/>
                <a:ea typeface="Urbanist"/>
                <a:cs typeface="Urbanist"/>
                <a:sym typeface="Urbanist"/>
              </a:rPr>
              <a:t>-12</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55" name="Shape 155"/>
        <p:cNvGrpSpPr/>
        <p:nvPr/>
      </p:nvGrpSpPr>
      <p:grpSpPr>
        <a:xfrm>
          <a:off x="0" y="0"/>
          <a:ext cx="0" cy="0"/>
          <a:chOff x="0" y="0"/>
          <a:chExt cx="0" cy="0"/>
        </a:xfrm>
      </p:grpSpPr>
      <p:pic>
        <p:nvPicPr>
          <p:cNvPr descr="image.png" id="156" name="Google Shape;156;p19"/>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57" name="Google Shape;157;p19"/>
          <p:cNvGraphicFramePr/>
          <p:nvPr/>
        </p:nvGraphicFramePr>
        <p:xfrm>
          <a:off x="580975" y="558396"/>
          <a:ext cx="3000000" cy="3000000"/>
        </p:xfrm>
        <a:graphic>
          <a:graphicData uri="http://schemas.openxmlformats.org/drawingml/2006/table">
            <a:tbl>
              <a:tblPr bandRow="1" firstRow="1">
                <a:noFill/>
                <a:tableStyleId>{1EEA75AE-5676-4B76-8E22-E3A38B899F5A}</a:tableStyleId>
              </a:tblPr>
              <a:tblGrid>
                <a:gridCol w="404625"/>
                <a:gridCol w="1922875"/>
                <a:gridCol w="1599600"/>
                <a:gridCol w="2328225"/>
                <a:gridCol w="924375"/>
                <a:gridCol w="1815825"/>
                <a:gridCol w="2298250"/>
              </a:tblGrid>
              <a:tr h="958075">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646125">
                <a:tc>
                  <a:txBody>
                    <a:bodyPr/>
                    <a:lstStyle/>
                    <a:p>
                      <a:pPr indent="0" lvl="0" marL="0" marR="0" rtl="0" algn="l">
                        <a:spcBef>
                          <a:spcPts val="0"/>
                        </a:spcBef>
                        <a:spcAft>
                          <a:spcPts val="0"/>
                        </a:spcAft>
                        <a:buNone/>
                      </a:pPr>
                      <a:r>
                        <a:rPr lang="en-US" sz="975">
                          <a:latin typeface="Urbanist"/>
                          <a:ea typeface="Urbanist"/>
                          <a:cs typeface="Urbanist"/>
                          <a:sym typeface="Urbanist"/>
                        </a:rPr>
                        <a:t>13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a:t>Specularity in NeRFs: A Comparative Study of Ref-NeRF and NRFF</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a:t>Image Processing On Line (IPOL)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lnSpc>
                          <a:spcPct val="115000"/>
                        </a:lnSpc>
                        <a:spcBef>
                          <a:spcPts val="1200"/>
                        </a:spcBef>
                        <a:spcAft>
                          <a:spcPts val="1200"/>
                        </a:spcAft>
                        <a:buSzPts val="1100"/>
                        <a:buNone/>
                      </a:pPr>
                      <a:r>
                        <a:rPr lang="en-US" sz="1100">
                          <a:latin typeface="Arial"/>
                          <a:ea typeface="Arial"/>
                          <a:cs typeface="Arial"/>
                          <a:sym typeface="Arial"/>
                        </a:rPr>
                        <a:t>Evaluation of Ref-NeRF and NRFF for specular surface rendering, comparing quality and convergence on simple and complex reflective datasets.</a:t>
                      </a:r>
                      <a:endParaRPr sz="9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300"/>
                        <a:t>Both outperform NeRF/Mip-NeRF on specular surfaces; Ref-NeRF excels in accuracy and handling geometry errors, while NRFF converges faster</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Struggle with inter-reflections, rely on altered normals for anisotropic specularities, NRFF poorly models diffuse/specular colors and allows negative radiance, Ref-NeRF can misassign specularity, and both assume single-bounce lighting without ray tracing.</a:t>
                      </a:r>
                      <a:endParaRPr sz="11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51650">
                <a:tc>
                  <a:txBody>
                    <a:bodyPr/>
                    <a:lstStyle/>
                    <a:p>
                      <a:pPr indent="0" lvl="0" marL="0" marR="0" rtl="0" algn="l">
                        <a:spcBef>
                          <a:spcPts val="0"/>
                        </a:spcBef>
                        <a:spcAft>
                          <a:spcPts val="0"/>
                        </a:spcAft>
                        <a:buNone/>
                      </a:pPr>
                      <a:r>
                        <a:rPr lang="en-US" sz="975">
                          <a:latin typeface="Urbanist"/>
                          <a:ea typeface="Urbanist"/>
                          <a:cs typeface="Urbanist"/>
                          <a:sym typeface="Urbanist"/>
                        </a:rPr>
                        <a:t>14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a:t>SC-NeRF: NeRF-based Point Cloud Reconstruction using a Stationary Camera for Agricultural Applications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a:t>CVPR</a:t>
                      </a:r>
                      <a:endParaRPr/>
                    </a:p>
                    <a:p>
                      <a:pPr indent="0" lvl="0" marL="0" marR="0" rtl="0" algn="l">
                        <a:spcBef>
                          <a:spcPts val="0"/>
                        </a:spcBef>
                        <a:spcAft>
                          <a:spcPts val="0"/>
                        </a:spcAft>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300"/>
                        <a:t>Single fixed-camera capture of a rotating object, COLMAP-based pose estimation with pose transformation to simulate camera motion, ROI-based scene filtering, followed by standard NeRF training.</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300"/>
                        <a:t>Produces near-perfect PCDs, avoids moving-camera setups, maintains efficient training, and supports high-throughput phenotyping with delicate sensors.</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a:t>Pose estimation is the main computational bottleneck, preprocessing is slower than GT moving-camera setups, pose optimization needs improvement, and broader validation across plant species and phenotyping scenarios is required.</a:t>
                      </a:r>
                      <a:endParaRPr sz="11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201625">
                <a:tc>
                  <a:txBody>
                    <a:bodyPr/>
                    <a:lstStyle/>
                    <a:p>
                      <a:pPr indent="0" lvl="0" marL="0" marR="0" rtl="0" algn="l">
                        <a:spcBef>
                          <a:spcPts val="0"/>
                        </a:spcBef>
                        <a:spcAft>
                          <a:spcPts val="0"/>
                        </a:spcAft>
                        <a:buNone/>
                      </a:pPr>
                      <a:r>
                        <a:rPr lang="en-US" sz="975">
                          <a:latin typeface="Urbanist"/>
                          <a:ea typeface="Urbanist"/>
                          <a:cs typeface="Urbanist"/>
                          <a:sym typeface="Urbanist"/>
                        </a:rPr>
                        <a:t>15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a:t>GO-</a:t>
                      </a:r>
                      <a:r>
                        <a:rPr lang="en-US"/>
                        <a:t>N3RDnet</a:t>
                      </a:r>
                      <a:r>
                        <a:rPr lang="en-US"/>
                        <a:t>: Geometry Optimized NeRF-enhanced 3D Object Detector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CVPR</a:t>
                      </a:r>
                      <a:endParaRPr u="none" cap="none" strike="noStrike">
                        <a:solidFill>
                          <a:schemeClr val="dk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latin typeface="Arial"/>
                          <a:ea typeface="Arial"/>
                          <a:cs typeface="Arial"/>
                          <a:sym typeface="Arial"/>
                        </a:rPr>
                        <a:t>End-to-end multi-view 3D object detection with PEOM for positional voxel embedding, DIS for foreground-focused sampling using voxel/NeRF densities, and OOM for cross-view opacity consistency via ray-length–weighted refinement.</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500"/>
                        <a:t>2025</a:t>
                      </a:r>
                      <a:endParaRPr sz="15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100"/>
                        <a:t>Sets new SOTA for NeRF-based multi-view 3D detection on ScanNet and ARKitScenes, +10.2% mAP@0.25 over ImVoxelNet, matches CN-RMA with ~14× fewer epochs and smaller grids, and needs no GT TSDF supervision.</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200"/>
                        <a:t>Complex architecture with multiple custom modules, performance only on par with CN-RMA despite added complexity, and dependence on a pre-trained 2D backbone (e.g., ResNet-50/101</a:t>
                      </a:r>
                      <a:endParaRPr sz="12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58" name="Google Shape;158;p19"/>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(1</a:t>
            </a:r>
            <a:r>
              <a:rPr b="1" lang="en-US" sz="2850">
                <a:solidFill>
                  <a:srgbClr val="F8FAFC"/>
                </a:solidFill>
                <a:latin typeface="Urbanist"/>
                <a:ea typeface="Urbanist"/>
                <a:cs typeface="Urbanist"/>
                <a:sym typeface="Urbanist"/>
              </a:rPr>
              <a:t>2</a:t>
            </a:r>
            <a:r>
              <a:rPr b="1" i="0" lang="en-US" sz="2850" u="none" cap="none" strike="noStrike">
                <a:solidFill>
                  <a:srgbClr val="F8FAFC"/>
                </a:solidFill>
                <a:latin typeface="Urbanist"/>
                <a:ea typeface="Urbanist"/>
                <a:cs typeface="Urbanist"/>
                <a:sym typeface="Urbanist"/>
              </a:rPr>
              <a:t>-</a:t>
            </a:r>
            <a:r>
              <a:rPr b="1" lang="en-US" sz="2850">
                <a:solidFill>
                  <a:srgbClr val="F8FAFC"/>
                </a:solidFill>
                <a:latin typeface="Urbanist"/>
                <a:ea typeface="Urbanist"/>
                <a:cs typeface="Urbanist"/>
                <a:sym typeface="Urbanist"/>
              </a:rPr>
              <a:t>15</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62" name="Shape 162"/>
        <p:cNvGrpSpPr/>
        <p:nvPr/>
      </p:nvGrpSpPr>
      <p:grpSpPr>
        <a:xfrm>
          <a:off x="0" y="0"/>
          <a:ext cx="0" cy="0"/>
          <a:chOff x="0" y="0"/>
          <a:chExt cx="0" cy="0"/>
        </a:xfrm>
      </p:grpSpPr>
      <p:pic>
        <p:nvPicPr>
          <p:cNvPr descr="image.png" id="163" name="Google Shape;163;p20"/>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64" name="Google Shape;164;p20"/>
          <p:cNvGraphicFramePr/>
          <p:nvPr/>
        </p:nvGraphicFramePr>
        <p:xfrm>
          <a:off x="580975" y="558396"/>
          <a:ext cx="3000000" cy="3000000"/>
        </p:xfrm>
        <a:graphic>
          <a:graphicData uri="http://schemas.openxmlformats.org/drawingml/2006/table">
            <a:tbl>
              <a:tblPr bandRow="1" firstRow="1">
                <a:noFill/>
                <a:tableStyleId>{1EEA75AE-5676-4B76-8E22-E3A38B899F5A}</a:tableStyleId>
              </a:tblPr>
              <a:tblGrid>
                <a:gridCol w="404625"/>
                <a:gridCol w="1922875"/>
                <a:gridCol w="1599600"/>
                <a:gridCol w="2328225"/>
                <a:gridCol w="924375"/>
                <a:gridCol w="1815825"/>
                <a:gridCol w="2298250"/>
              </a:tblGrid>
              <a:tr h="958075">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716200">
                <a:tc>
                  <a:txBody>
                    <a:bodyPr/>
                    <a:lstStyle/>
                    <a:p>
                      <a:pPr indent="0" lvl="0" marL="0" marR="0" rtl="0" algn="l">
                        <a:spcBef>
                          <a:spcPts val="0"/>
                        </a:spcBef>
                        <a:spcAft>
                          <a:spcPts val="0"/>
                        </a:spcAft>
                        <a:buNone/>
                      </a:pPr>
                      <a:r>
                        <a:rPr lang="en-US" sz="975">
                          <a:latin typeface="Urbanist"/>
                          <a:ea typeface="Urbanist"/>
                          <a:cs typeface="Urbanist"/>
                          <a:sym typeface="Urbanist"/>
                        </a:rPr>
                        <a:t>16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C</a:t>
                      </a:r>
                      <a:r>
                        <a:rPr lang="en-US"/>
                        <a:t>omparative</a:t>
                      </a:r>
                      <a:r>
                        <a:rPr lang="en-US"/>
                        <a:t> Analysis of 3D R</a:t>
                      </a:r>
                      <a:r>
                        <a:rPr lang="en-US"/>
                        <a:t>econstruction</a:t>
                      </a:r>
                      <a:r>
                        <a:rPr lang="en-US"/>
                        <a:t> Results Using MVS and NeRF:Insights from PCA</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IOP Publishing Ltd</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latin typeface="Arial"/>
                          <a:ea typeface="Arial"/>
                          <a:cs typeface="Arial"/>
                          <a:sym typeface="Arial"/>
                        </a:rPr>
                        <a:t>Comparative 3D reconstruction using MVS and NeRF on identical image sets, with PCA-based quantitative and qualitative evaluation of accuracy, geometric consistency, and data variance.</a:t>
                      </a:r>
                      <a:endParaRPr sz="9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300"/>
                        <a:t>High-detail reconstruction, robust handling of complex geometry, objective PCA-based evaluation, and suitability for environmental and 3D analysis</a:t>
                      </a:r>
                      <a:endParaRPr sz="1300"/>
                    </a:p>
                    <a:p>
                      <a:pPr indent="0" lvl="0" marL="0" marR="0" rtl="0" algn="l">
                        <a:spcBef>
                          <a:spcPts val="0"/>
                        </a:spcBef>
                        <a:spcAft>
                          <a:spcPts val="0"/>
                        </a:spcAft>
                        <a:buNone/>
                      </a:pPr>
                      <a:r>
                        <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300"/>
                        <a:t>High compute and training cost, limited scalability to large scenes, dataset-dependent performance, and reliance mainly on PCA for evaluation.</a:t>
                      </a:r>
                      <a:endParaRPr sz="1300"/>
                    </a:p>
                    <a:p>
                      <a:pPr indent="0" lvl="0" marL="0" marR="0" rtl="0" algn="l">
                        <a:spcBef>
                          <a:spcPts val="0"/>
                        </a:spcBef>
                        <a:spcAft>
                          <a:spcPts val="0"/>
                        </a:spcAft>
                        <a:buNone/>
                      </a:pPr>
                      <a:r>
                        <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51650">
                <a:tc>
                  <a:txBody>
                    <a:bodyPr/>
                    <a:lstStyle/>
                    <a:p>
                      <a:pPr indent="0" lvl="0" marL="0" marR="0" rtl="0" algn="l">
                        <a:spcBef>
                          <a:spcPts val="0"/>
                        </a:spcBef>
                        <a:spcAft>
                          <a:spcPts val="0"/>
                        </a:spcAft>
                        <a:buNone/>
                      </a:pPr>
                      <a:r>
                        <a:rPr lang="en-US" sz="975">
                          <a:latin typeface="Urbanist"/>
                          <a:ea typeface="Urbanist"/>
                          <a:cs typeface="Urbanist"/>
                          <a:sym typeface="Urbanist"/>
                        </a:rPr>
                        <a:t>17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lang="en-US"/>
                        <a:t>Overview of NeRF Technology and Applications</a:t>
                      </a:r>
                      <a:endParaRPr/>
                    </a:p>
                    <a:p>
                      <a:pPr indent="0" lvl="0" marL="0" rtl="0" algn="l">
                        <a:spcBef>
                          <a:spcPts val="0"/>
                        </a:spcBef>
                        <a:spcAft>
                          <a:spcPts val="0"/>
                        </a:spcAft>
                        <a:buSzPts val="1100"/>
                        <a:buNone/>
                      </a:pPr>
                      <a: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300"/>
                        <a:t>Journal of Computer-Aided Design &amp; Computer Graphics</a:t>
                      </a:r>
                      <a:endParaRPr sz="1300"/>
                    </a:p>
                    <a:p>
                      <a:pPr indent="0" lvl="0" marL="0" marR="0" rtl="0" algn="l">
                        <a:spcBef>
                          <a:spcPts val="0"/>
                        </a:spcBef>
                        <a:spcAft>
                          <a:spcPts val="0"/>
                        </a:spcAft>
                        <a:buNone/>
                      </a:pPr>
                      <a:r>
                        <a:t/>
                      </a:r>
                      <a:endParaRPr sz="18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300"/>
                        <a:t>Comprehensive review of NeRF methods, categorizing approaches by pose estimation, view aggregation, and rendering optimization, with analysis of similarities, differences, and application scena</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a:t>Highlights NeRF’s 2D-to-3D strengths, analyzes optimization methods (pose and non-rigid motion), outlines future research directions, and serves as a clear introductory guide.</a:t>
                      </a:r>
                      <a:endParaRPr sz="11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a:t>Slow rendering due to heavy computation, limited quality in single/sparse-view setups, poor cross-scene generalization, inefficient conversion to standard 3D formats (e.g., BIM/3DMAX), and lack of accessible internal scene information</a:t>
                      </a:r>
                      <a:endParaRPr sz="11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201625">
                <a:tc>
                  <a:txBody>
                    <a:bodyPr/>
                    <a:lstStyle/>
                    <a:p>
                      <a:pPr indent="0" lvl="0" marL="0" marR="0" rtl="0" algn="l">
                        <a:spcBef>
                          <a:spcPts val="0"/>
                        </a:spcBef>
                        <a:spcAft>
                          <a:spcPts val="0"/>
                        </a:spcAft>
                        <a:buNone/>
                      </a:pPr>
                      <a:r>
                        <a:rPr lang="en-US" sz="975">
                          <a:latin typeface="Urbanist"/>
                          <a:ea typeface="Urbanist"/>
                          <a:cs typeface="Urbanist"/>
                          <a:sym typeface="Urbanist"/>
                        </a:rPr>
                        <a:t>18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300"/>
                        <a:t>Toward Automatic 3D Model Reconstruction of Building Curtain Walls from UAV Images Based on NeRF and Deep Learning</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Remote Sensing (MDPI)</a:t>
                      </a:r>
                      <a:endParaRPr u="none" cap="none" strike="noStrike">
                        <a:solidFill>
                          <a:schemeClr val="dk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UAV image–based BIM reconstruction using NeRF for point cloud generation, PointNet++ for semantic segmentation, geometric parameter extraction, and automated BIM modeling via Revit + Dynamo.</a:t>
                      </a:r>
                      <a:endParaRPr sz="12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500"/>
                        <a:t>2025</a:t>
                      </a:r>
                      <a:endParaRPr sz="15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000">
                          <a:latin typeface="Arial"/>
                          <a:ea typeface="Arial"/>
                          <a:cs typeface="Arial"/>
                          <a:sym typeface="Arial"/>
                        </a:rPr>
                        <a:t>Achieves &lt;0.1 m BIM dimensional error, outperforms photogrammetry for curtain walls, improves semantic segmentation over traditional methods, and enables automatic semantic BIM reconstruction missing in standard NeRF</a:t>
                      </a:r>
                      <a:endParaRPr sz="17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SzPts val="1100"/>
                        <a:buNone/>
                      </a:pPr>
                      <a:r>
                        <a:rPr lang="en-US" sz="1200"/>
                        <a:t>Limited generalization due to same-building train/test data, lack of comparison with other segmentation networks (e.g., PointCNN), and need for higher-quality cameras for higher-precision results</a:t>
                      </a:r>
                      <a:endParaRPr sz="12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65" name="Google Shape;165;p20"/>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(16-</a:t>
            </a:r>
            <a:r>
              <a:rPr b="1" lang="en-US" sz="2850">
                <a:solidFill>
                  <a:srgbClr val="F8FAFC"/>
                </a:solidFill>
                <a:latin typeface="Urbanist"/>
                <a:ea typeface="Urbanist"/>
                <a:cs typeface="Urbanist"/>
                <a:sym typeface="Urbanist"/>
              </a:rPr>
              <a:t>18</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69" name="Shape 169"/>
        <p:cNvGrpSpPr/>
        <p:nvPr/>
      </p:nvGrpSpPr>
      <p:grpSpPr>
        <a:xfrm>
          <a:off x="0" y="0"/>
          <a:ext cx="0" cy="0"/>
          <a:chOff x="0" y="0"/>
          <a:chExt cx="0" cy="0"/>
        </a:xfrm>
      </p:grpSpPr>
      <p:pic>
        <p:nvPicPr>
          <p:cNvPr descr="image.png" id="170" name="Google Shape;170;p21"/>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171" name="Google Shape;171;p21"/>
          <p:cNvGraphicFramePr/>
          <p:nvPr/>
        </p:nvGraphicFramePr>
        <p:xfrm>
          <a:off x="580975" y="558396"/>
          <a:ext cx="3000000" cy="3000000"/>
        </p:xfrm>
        <a:graphic>
          <a:graphicData uri="http://schemas.openxmlformats.org/drawingml/2006/table">
            <a:tbl>
              <a:tblPr bandRow="1" firstRow="1">
                <a:noFill/>
                <a:tableStyleId>{1EEA75AE-5676-4B76-8E22-E3A38B899F5A}</a:tableStyleId>
              </a:tblPr>
              <a:tblGrid>
                <a:gridCol w="404625"/>
                <a:gridCol w="1922875"/>
                <a:gridCol w="1599600"/>
                <a:gridCol w="2328225"/>
                <a:gridCol w="924375"/>
                <a:gridCol w="1815825"/>
                <a:gridCol w="2298250"/>
              </a:tblGrid>
              <a:tr h="958075">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SI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Title of Pape</a:t>
                      </a:r>
                      <a:r>
                        <a:rPr lang="en-US" sz="1050">
                          <a:solidFill>
                            <a:srgbClr val="38BDF8"/>
                          </a:solidFill>
                          <a:latin typeface="Azeret Mono"/>
                          <a:ea typeface="Azeret Mono"/>
                          <a:cs typeface="Azeret Mono"/>
                          <a:sym typeface="Azeret Mono"/>
                        </a:rPr>
                        <a:t>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lang="en-US" sz="1050">
                          <a:solidFill>
                            <a:srgbClr val="38BDF8"/>
                          </a:solidFill>
                          <a:latin typeface="Azeret Mono"/>
                          <a:ea typeface="Azeret Mono"/>
                          <a:cs typeface="Azeret Mono"/>
                          <a:sym typeface="Azeret Mono"/>
                        </a:rPr>
                        <a:t>Publisher</a:t>
                      </a:r>
                      <a:endParaRPr b="1" i="0" sz="1050" u="none" cap="none" strike="noStrike">
                        <a:solidFill>
                          <a:srgbClr val="38BDF8"/>
                        </a:solidFill>
                        <a:latin typeface="Azeret Mono"/>
                        <a:ea typeface="Azeret Mono"/>
                        <a:cs typeface="Azeret Mono"/>
                        <a:sym typeface="Azeret Mono"/>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Year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050" u="none" cap="none" strike="noStrike">
                          <a:solidFill>
                            <a:srgbClr val="38BDF8"/>
                          </a:solidFill>
                          <a:latin typeface="Azeret Mono"/>
                          <a:ea typeface="Azeret Mono"/>
                          <a:cs typeface="Azeret Mono"/>
                          <a:sym typeface="Azeret Mono"/>
                        </a:rPr>
                        <a:t>Disadvantages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1646125">
                <a:tc>
                  <a:txBody>
                    <a:bodyPr/>
                    <a:lstStyle/>
                    <a:p>
                      <a:pPr indent="0" lvl="0" marL="0" marR="0" rtl="0" algn="l">
                        <a:spcBef>
                          <a:spcPts val="0"/>
                        </a:spcBef>
                        <a:spcAft>
                          <a:spcPts val="0"/>
                        </a:spcAft>
                        <a:buNone/>
                      </a:pPr>
                      <a:r>
                        <a:rPr lang="en-US" sz="975">
                          <a:latin typeface="Urbanist"/>
                          <a:ea typeface="Urbanist"/>
                          <a:cs typeface="Urbanist"/>
                          <a:sym typeface="Urbanist"/>
                        </a:rPr>
                        <a:t>19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t>Neural radiance fields assisted by image features for UAV scene reconstruction</a:t>
                      </a:r>
                      <a:endParaRPr/>
                    </a:p>
                    <a:p>
                      <a:pPr indent="0" lvl="0" marL="0" rtl="0" algn="l">
                        <a:spcBef>
                          <a:spcPts val="0"/>
                        </a:spcBef>
                        <a:spcAft>
                          <a:spcPts val="0"/>
                        </a:spcAft>
                        <a:buSzPts val="1100"/>
                        <a:buNone/>
                      </a:pPr>
                      <a: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Nature Portfolio</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a:latin typeface="Arial"/>
                          <a:ea typeface="Arial"/>
                          <a:cs typeface="Arial"/>
                          <a:sym typeface="Arial"/>
                        </a:rPr>
                        <a:t>(HIF-NeRF)</a:t>
                      </a:r>
                      <a:r>
                        <a:rPr lang="en-US" sz="1100">
                          <a:latin typeface="Arial"/>
                          <a:ea typeface="Arial"/>
                          <a:cs typeface="Arial"/>
                          <a:sym typeface="Arial"/>
                        </a:rPr>
                        <a:t> – UAV scene reconstruction using a hybrid CNN–Transformer image encoder, NeRF with an uncertainty-prediction branch to suppress dynamic regions, refined training losses, and Random Fourier Feature Encoding for better high-frequency detail capture.</a:t>
                      </a:r>
                      <a:endParaRPr sz="9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latin typeface="Arial"/>
                          <a:ea typeface="Arial"/>
                          <a:cs typeface="Arial"/>
                          <a:sym typeface="Arial"/>
                        </a:rPr>
                        <a:t>Delivers accurate UAV scene reconstruction, outperforms NeRF/NeRF-W/HA-NeRF on PSNR–SSIM–LPIPS, produces consistent geometry with fine details, generalizes well to novel views, and yields sharp depth edges even at long range.</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Struggles with sparse or repetitive textures, training cost rises sharply with more images or higher resolution, novel-view quality drops with low view overlap, and circular capture trajectories limit handling of lateral viewpoints</a:t>
                      </a:r>
                      <a:endParaRPr sz="12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51650">
                <a:tc>
                  <a:txBody>
                    <a:bodyPr/>
                    <a:lstStyle/>
                    <a:p>
                      <a:pPr indent="0" lvl="0" marL="0" marR="0" rtl="0" algn="l">
                        <a:spcBef>
                          <a:spcPts val="0"/>
                        </a:spcBef>
                        <a:spcAft>
                          <a:spcPts val="0"/>
                        </a:spcAft>
                        <a:buNone/>
                      </a:pPr>
                      <a:r>
                        <a:rPr lang="en-US" sz="975">
                          <a:latin typeface="Urbanist"/>
                          <a:ea typeface="Urbanist"/>
                          <a:cs typeface="Urbanist"/>
                          <a:sym typeface="Urbanist"/>
                        </a:rPr>
                        <a:t>20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SzPts val="1100"/>
                        <a:buNone/>
                      </a:pPr>
                      <a:r>
                        <a:rPr lang="en-US"/>
                        <a:t>Towards the application of NeRFs and Gaussian Splitting for surface and textural representation in construction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1500"/>
                        <a:t>CONVR-2025</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300"/>
                        <a:t>Comparative study of NeRF (Nerfacto) and Gaussian Splatting (Splatfacto) for construction material surface analysis, using 360° video capture, COLMAP-based SfM point clouds, and evaluation against ground truth for resolution, rendering quality, and defect detail.</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a:t>2025</a:t>
                      </a:r>
                      <a:endParaRPr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US" sz="1100">
                          <a:latin typeface="Arial"/>
                          <a:ea typeface="Arial"/>
                          <a:cs typeface="Arial"/>
                          <a:sym typeface="Arial"/>
                        </a:rPr>
                        <a:t>NeRF</a:t>
                      </a:r>
                      <a:r>
                        <a:rPr lang="en-US" sz="1100">
                          <a:latin typeface="Arial"/>
                          <a:ea typeface="Arial"/>
                          <a:cs typeface="Arial"/>
                          <a:sym typeface="Arial"/>
                        </a:rPr>
                        <a:t> excels at high-fidelity texture and surface detail for close, well-lit inspections, while </a:t>
                      </a:r>
                      <a:r>
                        <a:rPr b="1" lang="en-US" sz="1100">
                          <a:latin typeface="Arial"/>
                          <a:ea typeface="Arial"/>
                          <a:cs typeface="Arial"/>
                          <a:sym typeface="Arial"/>
                        </a:rPr>
                        <a:t>Gaussian Splatting</a:t>
                      </a:r>
                      <a:r>
                        <a:rPr lang="en-US" sz="1100">
                          <a:latin typeface="Arial"/>
                          <a:ea typeface="Arial"/>
                          <a:cs typeface="Arial"/>
                          <a:sym typeface="Arial"/>
                        </a:rPr>
                        <a:t> is faster (43 min vs 120 min), produces smoother, less noisy surfaces, and suits rapid, large-area assessments</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US" sz="1100">
                          <a:latin typeface="Arial"/>
                          <a:ea typeface="Arial"/>
                          <a:cs typeface="Arial"/>
                          <a:sym typeface="Arial"/>
                        </a:rPr>
                        <a:t>NeRF</a:t>
                      </a:r>
                      <a:r>
                        <a:rPr lang="en-US" sz="1100">
                          <a:latin typeface="Arial"/>
                          <a:ea typeface="Arial"/>
                          <a:cs typeface="Arial"/>
                          <a:sym typeface="Arial"/>
                        </a:rPr>
                        <a:t> struggles with distant/low-light textures and is compute-heavy, limiting large or dynamic use; </a:t>
                      </a:r>
                      <a:r>
                        <a:rPr b="1" lang="en-US" sz="1100">
                          <a:latin typeface="Arial"/>
                          <a:ea typeface="Arial"/>
                          <a:cs typeface="Arial"/>
                          <a:sym typeface="Arial"/>
                        </a:rPr>
                        <a:t>Gaussian Splatting</a:t>
                      </a:r>
                      <a:r>
                        <a:rPr lang="en-US" sz="1100">
                          <a:latin typeface="Arial"/>
                          <a:ea typeface="Arial"/>
                          <a:cs typeface="Arial"/>
                          <a:sym typeface="Arial"/>
                        </a:rPr>
                        <a:t> can blur sharp edges, miss fine details or introduce artifacts, and is sensitive to camera distance and angle, reducing precision defect detection.</a:t>
                      </a:r>
                      <a:endParaRPr sz="1300" u="none" cap="none" strike="noStrike">
                        <a:solidFill>
                          <a:schemeClr val="dk1"/>
                        </a:solidFill>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172" name="Google Shape;172;p21"/>
          <p:cNvSpPr txBox="1"/>
          <p:nvPr/>
        </p:nvSpPr>
        <p:spPr>
          <a:xfrm>
            <a:off x="580975" y="119800"/>
            <a:ext cx="113814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8FAFC"/>
                </a:solidFill>
                <a:latin typeface="Urbanist"/>
                <a:ea typeface="Urbanist"/>
                <a:cs typeface="Urbanist"/>
                <a:sym typeface="Urbanist"/>
              </a:rPr>
              <a:t>LITERATURE REVIEW (19-</a:t>
            </a:r>
            <a:r>
              <a:rPr b="1" lang="en-US" sz="2850">
                <a:solidFill>
                  <a:srgbClr val="F8FAFC"/>
                </a:solidFill>
                <a:latin typeface="Urbanist"/>
                <a:ea typeface="Urbanist"/>
                <a:cs typeface="Urbanist"/>
                <a:sym typeface="Urbanist"/>
              </a:rPr>
              <a:t>20</a:t>
            </a:r>
            <a:r>
              <a:rPr b="1" i="0" lang="en-US" sz="2850" u="none" cap="none" strike="noStrike">
                <a:solidFill>
                  <a:srgbClr val="F8FAFC"/>
                </a:solidFill>
                <a:latin typeface="Urbanist"/>
                <a:ea typeface="Urbanist"/>
                <a:cs typeface="Urbanist"/>
                <a:sym typeface="Urbanist"/>
              </a:rPr>
              <a:t> / 20)</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76" name="Shape 176"/>
        <p:cNvGrpSpPr/>
        <p:nvPr/>
      </p:nvGrpSpPr>
      <p:grpSpPr>
        <a:xfrm>
          <a:off x="0" y="0"/>
          <a:ext cx="0" cy="0"/>
          <a:chOff x="0" y="0"/>
          <a:chExt cx="0" cy="0"/>
        </a:xfrm>
      </p:grpSpPr>
      <p:pic>
        <p:nvPicPr>
          <p:cNvPr descr="image.png" id="177" name="Google Shape;177;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8" name="Google Shape;178;p22"/>
          <p:cNvPicPr preferRelativeResize="0"/>
          <p:nvPr/>
        </p:nvPicPr>
        <p:blipFill rotWithShape="1">
          <a:blip r:embed="rId4">
            <a:alphaModFix/>
          </a:blip>
          <a:srcRect b="0" l="0" r="0" t="0"/>
          <a:stretch/>
        </p:blipFill>
        <p:spPr>
          <a:xfrm>
            <a:off x="581025" y="2355651"/>
            <a:ext cx="3517850" cy="2632471"/>
          </a:xfrm>
          <a:prstGeom prst="rect">
            <a:avLst/>
          </a:prstGeom>
          <a:noFill/>
          <a:ln>
            <a:noFill/>
          </a:ln>
        </p:spPr>
      </p:pic>
      <p:pic>
        <p:nvPicPr>
          <p:cNvPr descr="image.png" id="179" name="Google Shape;179;p22"/>
          <p:cNvPicPr preferRelativeResize="0"/>
          <p:nvPr/>
        </p:nvPicPr>
        <p:blipFill rotWithShape="1">
          <a:blip r:embed="rId5">
            <a:alphaModFix/>
          </a:blip>
          <a:srcRect b="0" l="0" r="0" t="0"/>
          <a:stretch/>
        </p:blipFill>
        <p:spPr>
          <a:xfrm>
            <a:off x="4337000" y="2355651"/>
            <a:ext cx="3517850" cy="2632471"/>
          </a:xfrm>
          <a:prstGeom prst="rect">
            <a:avLst/>
          </a:prstGeom>
          <a:noFill/>
          <a:ln>
            <a:noFill/>
          </a:ln>
        </p:spPr>
      </p:pic>
      <p:pic>
        <p:nvPicPr>
          <p:cNvPr descr="image.png" id="180" name="Google Shape;180;p22"/>
          <p:cNvPicPr preferRelativeResize="0"/>
          <p:nvPr/>
        </p:nvPicPr>
        <p:blipFill rotWithShape="1">
          <a:blip r:embed="rId6">
            <a:alphaModFix/>
          </a:blip>
          <a:srcRect b="0" l="0" r="0" t="0"/>
          <a:stretch/>
        </p:blipFill>
        <p:spPr>
          <a:xfrm>
            <a:off x="8092975" y="2355651"/>
            <a:ext cx="3517999" cy="2632471"/>
          </a:xfrm>
          <a:prstGeom prst="rect">
            <a:avLst/>
          </a:prstGeom>
          <a:noFill/>
          <a:ln>
            <a:noFill/>
          </a:ln>
        </p:spPr>
      </p:pic>
      <p:sp>
        <p:nvSpPr>
          <p:cNvPr id="181" name="Google Shape;181;p22"/>
          <p:cNvSpPr txBox="1"/>
          <p:nvPr/>
        </p:nvSpPr>
        <p:spPr>
          <a:xfrm>
            <a:off x="876300" y="3155751"/>
            <a:ext cx="307366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Computational Latency</a:t>
            </a:r>
            <a:endParaRPr/>
          </a:p>
        </p:txBody>
      </p:sp>
      <p:sp>
        <p:nvSpPr>
          <p:cNvPr id="182" name="Google Shape;182;p22"/>
          <p:cNvSpPr txBox="1"/>
          <p:nvPr/>
        </p:nvSpPr>
        <p:spPr>
          <a:xfrm>
            <a:off x="876300" y="3565326"/>
            <a:ext cx="292730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Traditional NeRF models suffer from high training and inference times, making real-time interactive rendering difficult for complex scenes.</a:t>
            </a:r>
            <a:endParaRPr/>
          </a:p>
        </p:txBody>
      </p:sp>
      <p:sp>
        <p:nvSpPr>
          <p:cNvPr id="183" name="Google Shape;183;p22"/>
          <p:cNvSpPr txBox="1"/>
          <p:nvPr/>
        </p:nvSpPr>
        <p:spPr>
          <a:xfrm>
            <a:off x="4632275" y="3155751"/>
            <a:ext cx="3073665"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Sparse View Fidelity</a:t>
            </a:r>
            <a:endParaRPr/>
          </a:p>
        </p:txBody>
      </p:sp>
      <p:sp>
        <p:nvSpPr>
          <p:cNvPr id="184" name="Google Shape;184;p22"/>
          <p:cNvSpPr txBox="1"/>
          <p:nvPr/>
        </p:nvSpPr>
        <p:spPr>
          <a:xfrm>
            <a:off x="4632275" y="3565326"/>
            <a:ext cx="292730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Current algorithms degrade significantly in geometric accuracy when input 2D data is sparse or has limited angular coverage.</a:t>
            </a:r>
            <a:endParaRPr/>
          </a:p>
        </p:txBody>
      </p:sp>
      <p:sp>
        <p:nvSpPr>
          <p:cNvPr id="185" name="Google Shape;185;p22"/>
          <p:cNvSpPr txBox="1"/>
          <p:nvPr/>
        </p:nvSpPr>
        <p:spPr>
          <a:xfrm>
            <a:off x="8388250" y="3155751"/>
            <a:ext cx="3073821"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Storage Overhead</a:t>
            </a:r>
            <a:endParaRPr/>
          </a:p>
        </p:txBody>
      </p:sp>
      <p:sp>
        <p:nvSpPr>
          <p:cNvPr id="186" name="Google Shape;186;p22"/>
          <p:cNvSpPr txBox="1"/>
          <p:nvPr/>
        </p:nvSpPr>
        <p:spPr>
          <a:xfrm>
            <a:off x="8388250" y="3565326"/>
            <a:ext cx="2927449"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3D Gaussian Splatting achieves high speeds but introduces massive disk storage requirements for high-resolution point cloud splats.</a:t>
            </a:r>
            <a:endParaRPr/>
          </a:p>
        </p:txBody>
      </p:sp>
      <p:pic>
        <p:nvPicPr>
          <p:cNvPr descr="image.png" id="187" name="Google Shape;187;p22"/>
          <p:cNvPicPr preferRelativeResize="0"/>
          <p:nvPr/>
        </p:nvPicPr>
        <p:blipFill rotWithShape="1">
          <a:blip r:embed="rId7">
            <a:alphaModFix/>
          </a:blip>
          <a:srcRect b="0" l="0" r="0" t="0"/>
          <a:stretch/>
        </p:blipFill>
        <p:spPr>
          <a:xfrm>
            <a:off x="876300" y="2669976"/>
            <a:ext cx="228600" cy="304800"/>
          </a:xfrm>
          <a:prstGeom prst="rect">
            <a:avLst/>
          </a:prstGeom>
          <a:noFill/>
          <a:ln>
            <a:noFill/>
          </a:ln>
        </p:spPr>
      </p:pic>
      <p:pic>
        <p:nvPicPr>
          <p:cNvPr descr="image.png" id="188" name="Google Shape;188;p22"/>
          <p:cNvPicPr preferRelativeResize="0"/>
          <p:nvPr/>
        </p:nvPicPr>
        <p:blipFill rotWithShape="1">
          <a:blip r:embed="rId8">
            <a:alphaModFix/>
          </a:blip>
          <a:srcRect b="0" l="0" r="0" t="0"/>
          <a:stretch/>
        </p:blipFill>
        <p:spPr>
          <a:xfrm>
            <a:off x="4632275" y="2669976"/>
            <a:ext cx="304800" cy="304800"/>
          </a:xfrm>
          <a:prstGeom prst="rect">
            <a:avLst/>
          </a:prstGeom>
          <a:noFill/>
          <a:ln>
            <a:noFill/>
          </a:ln>
        </p:spPr>
      </p:pic>
      <p:pic>
        <p:nvPicPr>
          <p:cNvPr descr="image.png" id="189" name="Google Shape;189;p22"/>
          <p:cNvPicPr preferRelativeResize="0"/>
          <p:nvPr/>
        </p:nvPicPr>
        <p:blipFill rotWithShape="1">
          <a:blip r:embed="rId9">
            <a:alphaModFix/>
          </a:blip>
          <a:srcRect b="0" l="0" r="0" t="0"/>
          <a:stretch/>
        </p:blipFill>
        <p:spPr>
          <a:xfrm>
            <a:off x="8388250" y="2669976"/>
            <a:ext cx="266700" cy="304800"/>
          </a:xfrm>
          <a:prstGeom prst="rect">
            <a:avLst/>
          </a:prstGeom>
          <a:noFill/>
          <a:ln>
            <a:noFill/>
          </a:ln>
        </p:spPr>
      </p:pic>
      <p:sp>
        <p:nvSpPr>
          <p:cNvPr id="190" name="Google Shape;190;p22"/>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Urbanist"/>
                <a:ea typeface="Urbanist"/>
                <a:cs typeface="Urbanist"/>
                <a:sym typeface="Urbanist"/>
              </a:rPr>
              <a:t>02: RESEARCH GAP</a:t>
            </a:r>
            <a:endParaRPr/>
          </a:p>
        </p:txBody>
      </p:sp>
      <p:sp>
        <p:nvSpPr>
          <p:cNvPr id="191" name="Google Shape;191;p22"/>
          <p:cNvSpPr/>
          <p:nvPr/>
        </p:nvSpPr>
        <p:spPr>
          <a:xfrm>
            <a:off x="581025" y="581025"/>
            <a:ext cx="57150"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195" name="Shape 195"/>
        <p:cNvGrpSpPr/>
        <p:nvPr/>
      </p:nvGrpSpPr>
      <p:grpSpPr>
        <a:xfrm>
          <a:off x="0" y="0"/>
          <a:ext cx="0" cy="0"/>
          <a:chOff x="0" y="0"/>
          <a:chExt cx="0" cy="0"/>
        </a:xfrm>
      </p:grpSpPr>
      <p:pic>
        <p:nvPicPr>
          <p:cNvPr descr="image.png" id="196" name="Google Shape;196;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7" name="Google Shape;197;p23"/>
          <p:cNvSpPr txBox="1"/>
          <p:nvPr/>
        </p:nvSpPr>
        <p:spPr>
          <a:xfrm>
            <a:off x="1809750" y="1789807"/>
            <a:ext cx="857250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38BDF8"/>
                </a:solidFill>
                <a:latin typeface="Azeret Mono"/>
                <a:ea typeface="Azeret Mono"/>
                <a:cs typeface="Azeret Mono"/>
                <a:sym typeface="Azeret Mono"/>
              </a:rPr>
              <a:t>The Core Challenge</a:t>
            </a:r>
            <a:endParaRPr/>
          </a:p>
        </p:txBody>
      </p:sp>
      <p:sp>
        <p:nvSpPr>
          <p:cNvPr id="198" name="Google Shape;198;p23"/>
          <p:cNvSpPr txBox="1"/>
          <p:nvPr/>
        </p:nvSpPr>
        <p:spPr>
          <a:xfrm>
            <a:off x="1595437" y="2254597"/>
            <a:ext cx="9001125" cy="2209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rgbClr val="F8FAFC"/>
                </a:solidFill>
                <a:latin typeface="Urbanist"/>
                <a:ea typeface="Urbanist"/>
                <a:cs typeface="Urbanist"/>
                <a:sym typeface="Urbanist"/>
              </a:rPr>
              <a:t>How to achieve </a:t>
            </a:r>
            <a:r>
              <a:rPr b="1" i="0" lang="en-US" sz="3600" u="none" cap="none" strike="noStrike">
                <a:solidFill>
                  <a:srgbClr val="38BDF8"/>
                </a:solidFill>
                <a:latin typeface="Urbanist"/>
                <a:ea typeface="Urbanist"/>
                <a:cs typeface="Urbanist"/>
                <a:sym typeface="Urbanist"/>
              </a:rPr>
              <a:t>photorealistic 3D scene generation</a:t>
            </a:r>
            <a:r>
              <a:rPr b="1" i="0" lang="en-US" sz="3600" u="none" cap="none" strike="noStrike">
                <a:solidFill>
                  <a:srgbClr val="F8FAFC"/>
                </a:solidFill>
                <a:latin typeface="Urbanist"/>
                <a:ea typeface="Urbanist"/>
                <a:cs typeface="Urbanist"/>
                <a:sym typeface="Urbanist"/>
              </a:rPr>
              <a:t> that supports real-time navigation while overcoming neural speed bottlenecks and visual occlusions?</a:t>
            </a:r>
            <a:endParaRPr/>
          </a:p>
        </p:txBody>
      </p:sp>
      <p:sp>
        <p:nvSpPr>
          <p:cNvPr id="199" name="Google Shape;199;p23"/>
          <p:cNvSpPr txBox="1"/>
          <p:nvPr/>
        </p:nvSpPr>
        <p:spPr>
          <a:xfrm>
            <a:off x="1809750" y="4845397"/>
            <a:ext cx="8572500" cy="6703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94A3B8"/>
                </a:solidFill>
                <a:latin typeface="Urbanist"/>
                <a:ea typeface="Urbanist"/>
                <a:cs typeface="Urbanist"/>
                <a:sym typeface="Urbanist"/>
              </a:rPr>
              <a:t>Development of a robust pipeline to convert unstructured 2D photos into a high-fidelity, interactive 3D model with optimized geometric consistency.</a:t>
            </a:r>
            <a:endParaRPr/>
          </a:p>
        </p:txBody>
      </p:sp>
      <p:sp>
        <p:nvSpPr>
          <p:cNvPr id="200" name="Google Shape;200;p23"/>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Urbanist"/>
                <a:ea typeface="Urbanist"/>
                <a:cs typeface="Urbanist"/>
                <a:sym typeface="Urbanist"/>
              </a:rPr>
              <a:t>03: PROBLEM STATEMENT</a:t>
            </a:r>
            <a:endParaRPr/>
          </a:p>
        </p:txBody>
      </p:sp>
      <p:sp>
        <p:nvSpPr>
          <p:cNvPr id="201" name="Google Shape;201;p23"/>
          <p:cNvSpPr/>
          <p:nvPr/>
        </p:nvSpPr>
        <p:spPr>
          <a:xfrm>
            <a:off x="581025" y="581025"/>
            <a:ext cx="57150"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205" name="Shape 205"/>
        <p:cNvGrpSpPr/>
        <p:nvPr/>
      </p:nvGrpSpPr>
      <p:grpSpPr>
        <a:xfrm>
          <a:off x="0" y="0"/>
          <a:ext cx="0" cy="0"/>
          <a:chOff x="0" y="0"/>
          <a:chExt cx="0" cy="0"/>
        </a:xfrm>
      </p:grpSpPr>
      <p:pic>
        <p:nvPicPr>
          <p:cNvPr descr="image.png" id="206" name="Google Shape;206;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7" name="Google Shape;207;p24"/>
          <p:cNvSpPr txBox="1"/>
          <p:nvPr/>
        </p:nvSpPr>
        <p:spPr>
          <a:xfrm>
            <a:off x="581025" y="2293441"/>
            <a:ext cx="3693742" cy="285154"/>
          </a:xfrm>
          <a:prstGeom prst="rect">
            <a:avLst/>
          </a:prstGeom>
          <a:noFill/>
          <a:ln>
            <a:noFill/>
          </a:ln>
        </p:spPr>
        <p:txBody>
          <a:bodyPr anchorCtr="0" anchor="t" bIns="0" lIns="323850" spcFirstLastPara="1" rIns="0" wrap="square" tIns="0">
            <a:spAutoFit/>
          </a:bodyPr>
          <a:lstStyle/>
          <a:p>
            <a:pPr indent="0" lvl="0" marL="0" marR="0" rtl="0" algn="l">
              <a:lnSpc>
                <a:spcPct val="159971"/>
              </a:lnSpc>
              <a:spcBef>
                <a:spcPts val="0"/>
              </a:spcBef>
              <a:spcAft>
                <a:spcPts val="0"/>
              </a:spcAft>
              <a:buNone/>
            </a:pPr>
            <a:r>
              <a:rPr b="1" i="0" lang="en-US" sz="1404" u="none" cap="none" strike="noStrike">
                <a:solidFill>
                  <a:srgbClr val="38BDF8"/>
                </a:solidFill>
                <a:latin typeface="Urbanist"/>
                <a:ea typeface="Urbanist"/>
                <a:cs typeface="Urbanist"/>
                <a:sym typeface="Urbanist"/>
              </a:rPr>
              <a:t>Hybrid Framework</a:t>
            </a:r>
            <a:endParaRPr/>
          </a:p>
        </p:txBody>
      </p:sp>
      <p:sp>
        <p:nvSpPr>
          <p:cNvPr id="208" name="Google Shape;208;p24"/>
          <p:cNvSpPr txBox="1"/>
          <p:nvPr/>
        </p:nvSpPr>
        <p:spPr>
          <a:xfrm>
            <a:off x="581025" y="2730996"/>
            <a:ext cx="351785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Develop a unified framework integrating NeRF for volumetric geometry and Gaussian Splatting for rasterization.</a:t>
            </a:r>
            <a:endParaRPr/>
          </a:p>
        </p:txBody>
      </p:sp>
      <p:sp>
        <p:nvSpPr>
          <p:cNvPr id="209" name="Google Shape;209;p24"/>
          <p:cNvSpPr txBox="1"/>
          <p:nvPr/>
        </p:nvSpPr>
        <p:spPr>
          <a:xfrm>
            <a:off x="581025" y="3748087"/>
            <a:ext cx="3693742" cy="285154"/>
          </a:xfrm>
          <a:prstGeom prst="rect">
            <a:avLst/>
          </a:prstGeom>
          <a:noFill/>
          <a:ln>
            <a:noFill/>
          </a:ln>
        </p:spPr>
        <p:txBody>
          <a:bodyPr anchorCtr="0" anchor="t" bIns="0" lIns="323850" spcFirstLastPara="1" rIns="0" wrap="square" tIns="0">
            <a:spAutoFit/>
          </a:bodyPr>
          <a:lstStyle/>
          <a:p>
            <a:pPr indent="0" lvl="0" marL="0" marR="0" rtl="0" algn="l">
              <a:lnSpc>
                <a:spcPct val="159971"/>
              </a:lnSpc>
              <a:spcBef>
                <a:spcPts val="0"/>
              </a:spcBef>
              <a:spcAft>
                <a:spcPts val="0"/>
              </a:spcAft>
              <a:buNone/>
            </a:pPr>
            <a:r>
              <a:rPr b="1" i="0" lang="en-US" sz="1404" u="none" cap="none" strike="noStrike">
                <a:solidFill>
                  <a:srgbClr val="38BDF8"/>
                </a:solidFill>
                <a:latin typeface="Urbanist"/>
                <a:ea typeface="Urbanist"/>
                <a:cs typeface="Urbanist"/>
                <a:sym typeface="Urbanist"/>
              </a:rPr>
              <a:t>Real-time Rendering</a:t>
            </a:r>
            <a:endParaRPr/>
          </a:p>
        </p:txBody>
      </p:sp>
      <p:sp>
        <p:nvSpPr>
          <p:cNvPr id="210" name="Google Shape;210;p24"/>
          <p:cNvSpPr txBox="1"/>
          <p:nvPr/>
        </p:nvSpPr>
        <p:spPr>
          <a:xfrm>
            <a:off x="581025" y="4185642"/>
            <a:ext cx="351785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Optimize inference to achieve rendering speeds exceeding 30 frames per second on standard hardware.</a:t>
            </a:r>
            <a:endParaRPr/>
          </a:p>
        </p:txBody>
      </p:sp>
      <p:sp>
        <p:nvSpPr>
          <p:cNvPr id="211" name="Google Shape;211;p24"/>
          <p:cNvSpPr txBox="1"/>
          <p:nvPr/>
        </p:nvSpPr>
        <p:spPr>
          <a:xfrm>
            <a:off x="4337000" y="2293441"/>
            <a:ext cx="3693600" cy="285300"/>
          </a:xfrm>
          <a:prstGeom prst="rect">
            <a:avLst/>
          </a:prstGeom>
          <a:noFill/>
          <a:ln>
            <a:noFill/>
          </a:ln>
        </p:spPr>
        <p:txBody>
          <a:bodyPr anchorCtr="0" anchor="t" bIns="0" lIns="323850" spcFirstLastPara="1" rIns="0" wrap="square" tIns="0">
            <a:spAutoFit/>
          </a:bodyPr>
          <a:lstStyle/>
          <a:p>
            <a:pPr indent="0" lvl="0" marL="0" marR="0" rtl="0" algn="l">
              <a:lnSpc>
                <a:spcPct val="159971"/>
              </a:lnSpc>
              <a:spcBef>
                <a:spcPts val="0"/>
              </a:spcBef>
              <a:spcAft>
                <a:spcPts val="0"/>
              </a:spcAft>
              <a:buNone/>
            </a:pPr>
            <a:r>
              <a:rPr b="1" i="0" lang="en-US" sz="1404" u="none" cap="none" strike="noStrike">
                <a:solidFill>
                  <a:srgbClr val="38BDF8"/>
                </a:solidFill>
                <a:latin typeface="Urbanist"/>
                <a:ea typeface="Urbanist"/>
                <a:cs typeface="Urbanist"/>
                <a:sym typeface="Urbanist"/>
              </a:rPr>
              <a:t>Lighting Consistency</a:t>
            </a:r>
            <a:endParaRPr/>
          </a:p>
        </p:txBody>
      </p:sp>
      <p:sp>
        <p:nvSpPr>
          <p:cNvPr id="212" name="Google Shape;212;p24"/>
          <p:cNvSpPr txBox="1"/>
          <p:nvPr/>
        </p:nvSpPr>
        <p:spPr>
          <a:xfrm>
            <a:off x="4337000" y="2730996"/>
            <a:ext cx="3517800" cy="731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Address uneven lighting and shadow inconsistencies across multi-view input data using neural refinement.</a:t>
            </a:r>
            <a:endParaRPr/>
          </a:p>
        </p:txBody>
      </p:sp>
      <p:sp>
        <p:nvSpPr>
          <p:cNvPr id="213" name="Google Shape;213;p24"/>
          <p:cNvSpPr txBox="1"/>
          <p:nvPr/>
        </p:nvSpPr>
        <p:spPr>
          <a:xfrm>
            <a:off x="4337000" y="3748087"/>
            <a:ext cx="3693600" cy="285300"/>
          </a:xfrm>
          <a:prstGeom prst="rect">
            <a:avLst/>
          </a:prstGeom>
          <a:noFill/>
          <a:ln>
            <a:noFill/>
          </a:ln>
        </p:spPr>
        <p:txBody>
          <a:bodyPr anchorCtr="0" anchor="t" bIns="0" lIns="295275" spcFirstLastPara="1" rIns="0" wrap="square" tIns="0">
            <a:spAutoFit/>
          </a:bodyPr>
          <a:lstStyle/>
          <a:p>
            <a:pPr indent="0" lvl="0" marL="0" marR="0" rtl="0" algn="l">
              <a:lnSpc>
                <a:spcPct val="159971"/>
              </a:lnSpc>
              <a:spcBef>
                <a:spcPts val="0"/>
              </a:spcBef>
              <a:spcAft>
                <a:spcPts val="0"/>
              </a:spcAft>
              <a:buNone/>
            </a:pPr>
            <a:r>
              <a:rPr b="1" i="0" lang="en-US" sz="1404" u="none" cap="none" strike="noStrike">
                <a:solidFill>
                  <a:srgbClr val="38BDF8"/>
                </a:solidFill>
                <a:latin typeface="Urbanist"/>
                <a:ea typeface="Urbanist"/>
                <a:cs typeface="Urbanist"/>
                <a:sym typeface="Urbanist"/>
              </a:rPr>
              <a:t>Data Compression</a:t>
            </a:r>
            <a:endParaRPr/>
          </a:p>
        </p:txBody>
      </p:sp>
      <p:sp>
        <p:nvSpPr>
          <p:cNvPr id="214" name="Google Shape;214;p24"/>
          <p:cNvSpPr txBox="1"/>
          <p:nvPr/>
        </p:nvSpPr>
        <p:spPr>
          <a:xfrm>
            <a:off x="4337000" y="4185642"/>
            <a:ext cx="3517800" cy="487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Implement efficient storage techniques to reduce Gaussian splat sizes without sacrificing visual fidelity.</a:t>
            </a:r>
            <a:endParaRPr/>
          </a:p>
        </p:txBody>
      </p:sp>
      <p:pic>
        <p:nvPicPr>
          <p:cNvPr descr="image.png" id="215" name="Google Shape;215;p24"/>
          <p:cNvPicPr preferRelativeResize="0"/>
          <p:nvPr/>
        </p:nvPicPr>
        <p:blipFill rotWithShape="1">
          <a:blip r:embed="rId4">
            <a:alphaModFix/>
          </a:blip>
          <a:srcRect b="0" l="0" r="0" t="0"/>
          <a:stretch/>
        </p:blipFill>
        <p:spPr>
          <a:xfrm>
            <a:off x="581025" y="2341066"/>
            <a:ext cx="180975" cy="178296"/>
          </a:xfrm>
          <a:prstGeom prst="rect">
            <a:avLst/>
          </a:prstGeom>
          <a:noFill/>
          <a:ln>
            <a:noFill/>
          </a:ln>
        </p:spPr>
      </p:pic>
      <p:pic>
        <p:nvPicPr>
          <p:cNvPr descr="image.png" id="216" name="Google Shape;216;p24"/>
          <p:cNvPicPr preferRelativeResize="0"/>
          <p:nvPr/>
        </p:nvPicPr>
        <p:blipFill rotWithShape="1">
          <a:blip r:embed="rId5">
            <a:alphaModFix/>
          </a:blip>
          <a:srcRect b="0" l="0" r="0" t="0"/>
          <a:stretch/>
        </p:blipFill>
        <p:spPr>
          <a:xfrm>
            <a:off x="581025" y="3795712"/>
            <a:ext cx="180975" cy="178296"/>
          </a:xfrm>
          <a:prstGeom prst="rect">
            <a:avLst/>
          </a:prstGeom>
          <a:noFill/>
          <a:ln>
            <a:noFill/>
          </a:ln>
        </p:spPr>
      </p:pic>
      <p:pic>
        <p:nvPicPr>
          <p:cNvPr descr="image.png" id="217" name="Google Shape;217;p24"/>
          <p:cNvPicPr preferRelativeResize="0"/>
          <p:nvPr/>
        </p:nvPicPr>
        <p:blipFill rotWithShape="1">
          <a:blip r:embed="rId6">
            <a:alphaModFix/>
          </a:blip>
          <a:srcRect b="0" l="0" r="0" t="0"/>
          <a:stretch/>
        </p:blipFill>
        <p:spPr>
          <a:xfrm>
            <a:off x="4337000" y="2341066"/>
            <a:ext cx="180975" cy="178296"/>
          </a:xfrm>
          <a:prstGeom prst="rect">
            <a:avLst/>
          </a:prstGeom>
          <a:noFill/>
          <a:ln>
            <a:noFill/>
          </a:ln>
        </p:spPr>
      </p:pic>
      <p:pic>
        <p:nvPicPr>
          <p:cNvPr descr="image.png" id="218" name="Google Shape;218;p24"/>
          <p:cNvPicPr preferRelativeResize="0"/>
          <p:nvPr/>
        </p:nvPicPr>
        <p:blipFill rotWithShape="1">
          <a:blip r:embed="rId7">
            <a:alphaModFix/>
          </a:blip>
          <a:srcRect b="0" l="0" r="0" t="0"/>
          <a:stretch/>
        </p:blipFill>
        <p:spPr>
          <a:xfrm>
            <a:off x="4337000" y="3795712"/>
            <a:ext cx="152400" cy="178296"/>
          </a:xfrm>
          <a:prstGeom prst="rect">
            <a:avLst/>
          </a:prstGeom>
          <a:noFill/>
          <a:ln>
            <a:noFill/>
          </a:ln>
        </p:spPr>
      </p:pic>
      <p:sp>
        <p:nvSpPr>
          <p:cNvPr id="219" name="Google Shape;219;p24"/>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Urbanist"/>
                <a:ea typeface="Urbanist"/>
                <a:cs typeface="Urbanist"/>
                <a:sym typeface="Urbanist"/>
              </a:rPr>
              <a:t>04: OBJECTIVE</a:t>
            </a:r>
            <a:endParaRPr/>
          </a:p>
        </p:txBody>
      </p:sp>
      <p:sp>
        <p:nvSpPr>
          <p:cNvPr id="220" name="Google Shape;220;p24"/>
          <p:cNvSpPr/>
          <p:nvPr/>
        </p:nvSpPr>
        <p:spPr>
          <a:xfrm>
            <a:off x="581025" y="581025"/>
            <a:ext cx="57150"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224" name="Shape 224"/>
        <p:cNvGrpSpPr/>
        <p:nvPr/>
      </p:nvGrpSpPr>
      <p:grpSpPr>
        <a:xfrm>
          <a:off x="0" y="0"/>
          <a:ext cx="0" cy="0"/>
          <a:chOff x="0" y="0"/>
          <a:chExt cx="0" cy="0"/>
        </a:xfrm>
      </p:grpSpPr>
      <p:pic>
        <p:nvPicPr>
          <p:cNvPr id="225" name="Google Shape;225;p25"/>
          <p:cNvPicPr preferRelativeResize="0"/>
          <p:nvPr/>
        </p:nvPicPr>
        <p:blipFill rotWithShape="1">
          <a:blip r:embed="rId3">
            <a:alphaModFix/>
          </a:blip>
          <a:srcRect b="-28890" l="-36445" r="37219" t="28890"/>
          <a:stretch/>
        </p:blipFill>
        <p:spPr>
          <a:xfrm>
            <a:off x="2787800" y="1622314"/>
            <a:ext cx="9300300" cy="5235675"/>
          </a:xfrm>
          <a:prstGeom prst="rect">
            <a:avLst/>
          </a:prstGeom>
          <a:noFill/>
          <a:ln>
            <a:noFill/>
          </a:ln>
        </p:spPr>
      </p:pic>
      <p:sp>
        <p:nvSpPr>
          <p:cNvPr id="226" name="Google Shape;226;p25"/>
          <p:cNvSpPr txBox="1"/>
          <p:nvPr/>
        </p:nvSpPr>
        <p:spPr>
          <a:xfrm>
            <a:off x="581025" y="2479476"/>
            <a:ext cx="5190648"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38BDF8"/>
                </a:solidFill>
                <a:latin typeface="Urbanist"/>
                <a:ea typeface="Urbanist"/>
                <a:cs typeface="Urbanist"/>
                <a:sym typeface="Urbanist"/>
              </a:rPr>
              <a:t>Neural Radiance Fields</a:t>
            </a:r>
            <a:endParaRPr/>
          </a:p>
        </p:txBody>
      </p:sp>
      <p:sp>
        <p:nvSpPr>
          <p:cNvPr id="227" name="Google Shape;227;p25"/>
          <p:cNvSpPr txBox="1"/>
          <p:nvPr/>
        </p:nvSpPr>
        <p:spPr>
          <a:xfrm>
            <a:off x="581025" y="2850951"/>
            <a:ext cx="4943475"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Implicit representation using neural networks. High photorealism but requires ray-marching per pixel, leading to slow rendering.</a:t>
            </a:r>
            <a:endParaRPr/>
          </a:p>
        </p:txBody>
      </p:sp>
      <p:sp>
        <p:nvSpPr>
          <p:cNvPr id="228" name="Google Shape;228;p25"/>
          <p:cNvSpPr txBox="1"/>
          <p:nvPr/>
        </p:nvSpPr>
        <p:spPr>
          <a:xfrm>
            <a:off x="581025" y="3871912"/>
            <a:ext cx="5190648"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818CF8"/>
                </a:solidFill>
                <a:latin typeface="Urbanist"/>
                <a:ea typeface="Urbanist"/>
                <a:cs typeface="Urbanist"/>
                <a:sym typeface="Urbanist"/>
              </a:rPr>
              <a:t>3D Gaussian Splatting</a:t>
            </a:r>
            <a:endParaRPr/>
          </a:p>
        </p:txBody>
      </p:sp>
      <p:sp>
        <p:nvSpPr>
          <p:cNvPr id="229" name="Google Shape;229;p25"/>
          <p:cNvSpPr txBox="1"/>
          <p:nvPr/>
        </p:nvSpPr>
        <p:spPr>
          <a:xfrm>
            <a:off x="581025" y="4243387"/>
            <a:ext cx="4943475"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Urbanist"/>
                <a:ea typeface="Urbanist"/>
                <a:cs typeface="Urbanist"/>
                <a:sym typeface="Urbanist"/>
              </a:rPr>
              <a:t>Explicit representation using 3D Gaussians. Allows for rasterization-based rendering, enabling high FPS interactive 3D viewing.</a:t>
            </a:r>
            <a:endParaRPr/>
          </a:p>
        </p:txBody>
      </p:sp>
      <p:sp>
        <p:nvSpPr>
          <p:cNvPr id="230" name="Google Shape;230;p25"/>
          <p:cNvSpPr txBox="1"/>
          <p:nvPr/>
        </p:nvSpPr>
        <p:spPr>
          <a:xfrm>
            <a:off x="771525" y="581025"/>
            <a:ext cx="4990623"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Urbanist"/>
                <a:ea typeface="Urbanist"/>
                <a:cs typeface="Urbanist"/>
                <a:sym typeface="Urbanist"/>
              </a:rPr>
              <a:t>NERF VS. SPLATTING</a:t>
            </a:r>
            <a:endParaRPr/>
          </a:p>
        </p:txBody>
      </p:sp>
      <p:sp>
        <p:nvSpPr>
          <p:cNvPr id="231" name="Google Shape;231;p25"/>
          <p:cNvSpPr/>
          <p:nvPr/>
        </p:nvSpPr>
        <p:spPr>
          <a:xfrm>
            <a:off x="581025" y="581025"/>
            <a:ext cx="57150" cy="4857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add an image on the left side wrt to the content" id="236" name="Google Shape;236;p26"/>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70A"/>
        </a:solidFill>
      </p:bgPr>
    </p:bg>
    <p:spTree>
      <p:nvGrpSpPr>
        <p:cNvPr id="240" name="Shape 240"/>
        <p:cNvGrpSpPr/>
        <p:nvPr/>
      </p:nvGrpSpPr>
      <p:grpSpPr>
        <a:xfrm>
          <a:off x="0" y="0"/>
          <a:ext cx="0" cy="0"/>
          <a:chOff x="0" y="0"/>
          <a:chExt cx="0" cy="0"/>
        </a:xfrm>
      </p:grpSpPr>
      <p:pic>
        <p:nvPicPr>
          <p:cNvPr descr="image.png" id="241" name="Google Shape;24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2" name="Google Shape;242;p27"/>
          <p:cNvPicPr preferRelativeResize="0"/>
          <p:nvPr/>
        </p:nvPicPr>
        <p:blipFill rotWithShape="1">
          <a:blip r:embed="rId4">
            <a:alphaModFix/>
          </a:blip>
          <a:srcRect b="0" l="0" r="0" t="0"/>
          <a:stretch/>
        </p:blipFill>
        <p:spPr>
          <a:xfrm>
            <a:off x="4676775" y="4125217"/>
            <a:ext cx="2838450" cy="1335285"/>
          </a:xfrm>
          <a:prstGeom prst="rect">
            <a:avLst/>
          </a:prstGeom>
          <a:noFill/>
          <a:ln>
            <a:noFill/>
          </a:ln>
        </p:spPr>
      </p:pic>
      <p:sp>
        <p:nvSpPr>
          <p:cNvPr id="243" name="Google Shape;243;p27"/>
          <p:cNvSpPr txBox="1"/>
          <p:nvPr/>
        </p:nvSpPr>
        <p:spPr>
          <a:xfrm>
            <a:off x="3325653" y="1397347"/>
            <a:ext cx="5540692" cy="114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0" u="none" cap="none" strike="noStrike">
                <a:solidFill>
                  <a:srgbClr val="F8FAFC"/>
                </a:solidFill>
                <a:latin typeface="Urbanist"/>
                <a:ea typeface="Urbanist"/>
                <a:cs typeface="Urbanist"/>
                <a:sym typeface="Urbanist"/>
              </a:rPr>
              <a:t>THANK YOU</a:t>
            </a:r>
            <a:endParaRPr/>
          </a:p>
        </p:txBody>
      </p:sp>
      <p:sp>
        <p:nvSpPr>
          <p:cNvPr id="244" name="Google Shape;244;p27"/>
          <p:cNvSpPr txBox="1"/>
          <p:nvPr/>
        </p:nvSpPr>
        <p:spPr>
          <a:xfrm>
            <a:off x="4419600" y="2959447"/>
            <a:ext cx="33528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38BDF8"/>
                </a:solidFill>
                <a:latin typeface="Azeret Mono"/>
                <a:ea typeface="Azeret Mono"/>
                <a:cs typeface="Azeret Mono"/>
                <a:sym typeface="Azeret Mono"/>
              </a:rPr>
              <a:t>Questions &amp; Discussion</a:t>
            </a:r>
            <a:endParaRPr/>
          </a:p>
        </p:txBody>
      </p:sp>
      <p:sp>
        <p:nvSpPr>
          <p:cNvPr id="245" name="Google Shape;245;p27"/>
          <p:cNvSpPr txBox="1"/>
          <p:nvPr/>
        </p:nvSpPr>
        <p:spPr>
          <a:xfrm>
            <a:off x="4676775" y="4668142"/>
            <a:ext cx="28384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64748B"/>
                </a:solidFill>
                <a:latin typeface="Urbanist"/>
                <a:ea typeface="Urbanist"/>
                <a:cs typeface="Urbanist"/>
                <a:sym typeface="Urbanist"/>
              </a:rPr>
              <a:t>CEM Punnapra | Group Number - 05</a:t>
            </a:r>
            <a:endParaRPr/>
          </a:p>
        </p:txBody>
      </p:sp>
      <p:sp>
        <p:nvSpPr>
          <p:cNvPr id="246" name="Google Shape;246;p27"/>
          <p:cNvSpPr txBox="1"/>
          <p:nvPr/>
        </p:nvSpPr>
        <p:spPr>
          <a:xfrm>
            <a:off x="4676775" y="5064323"/>
            <a:ext cx="28384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64748B"/>
                </a:solidFill>
                <a:latin typeface="Urbanist"/>
                <a:ea typeface="Urbanist"/>
                <a:cs typeface="Urbanist"/>
                <a:sym typeface="Urbanist"/>
              </a:rPr>
              <a:t>Project: 3D Reconstruction from 2D Photos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