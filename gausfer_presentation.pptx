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58" r:id="rId4"/>
    <p:sldId id="259" r:id="rId5"/>
    <p:sldId id="273" r:id="rId6"/>
    <p:sldId id="274" r:id="rId7"/>
    <p:sldId id="275" r:id="rId8"/>
    <p:sldId id="276" r:id="rId9"/>
    <p:sldId id="277" r:id="rId10"/>
    <p:sldId id="278" r:id="rId11"/>
    <p:sldId id="279" r:id="rId12"/>
    <p:sldId id="280" r:id="rId13"/>
    <p:sldId id="281" r:id="rId14"/>
    <p:sldId id="282" r:id="rId15"/>
    <p:sldId id="283" r:id="rId16"/>
    <p:sldId id="284" r:id="rId17"/>
    <p:sldId id="260" r:id="rId18"/>
    <p:sldId id="261" r:id="rId19"/>
    <p:sldId id="262" r:id="rId20"/>
    <p:sldId id="285" r:id="rId21"/>
    <p:sldId id="286" r:id="rId22"/>
    <p:sldId id="270" r:id="rId23"/>
    <p:sldId id="287" r:id="rId24"/>
    <p:sldId id="288" r:id="rId25"/>
    <p:sldId id="289" r:id="rId26"/>
    <p:sldId id="257" r:id="rId27"/>
    <p:sldId id="263" r:id="rId28"/>
    <p:sldId id="264" r:id="rId29"/>
    <p:sldId id="265" r:id="rId30"/>
    <p:sldId id="266" r:id="rId31"/>
    <p:sldId id="267" r:id="rId32"/>
    <p:sldId id="268" r:id="rId33"/>
    <p:sldId id="271" r:id="rId34"/>
    <p:sldId id="26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660"/>
  </p:normalViewPr>
  <p:slideViewPr>
    <p:cSldViewPr snapToGrid="0">
      <p:cViewPr>
        <p:scale>
          <a:sx n="75" d="100"/>
          <a:sy n="75" d="100"/>
        </p:scale>
        <p:origin x="485"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328458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489583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2727928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B17838-0D3A-4635-A352-AFED2B86CB95}"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1507079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B17838-0D3A-4635-A352-AFED2B86CB95}" type="datetimeFigureOut">
              <a:rPr lang="en-IN" smtClean="0"/>
              <a:t>13-04-2026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2008931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B17838-0D3A-4635-A352-AFED2B86CB95}" type="datetimeFigureOut">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192804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B17838-0D3A-4635-A352-AFED2B86CB95}" type="datetimeFigureOut">
              <a:rPr lang="en-IN" smtClean="0"/>
              <a:t>13-04-2026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1499549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B17838-0D3A-4635-A352-AFED2B86CB95}"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1751057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B17838-0D3A-4635-A352-AFED2B86CB95}"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1273494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B17838-0D3A-4635-A352-AFED2B86CB95}"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203365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3429445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16517280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22801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40435992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822770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4187281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B17838-0D3A-4635-A352-AFED2B86CB95}"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DF0F45-CB08-4917-81BA-EC915EE6F314}" type="slidenum">
              <a:rPr lang="en-IN" smtClean="0"/>
              <a:t>‹#›</a:t>
            </a:fld>
            <a:endParaRPr lang="en-IN"/>
          </a:p>
        </p:txBody>
      </p:sp>
    </p:spTree>
    <p:extLst>
      <p:ext uri="{BB962C8B-B14F-4D97-AF65-F5344CB8AC3E}">
        <p14:creationId xmlns:p14="http://schemas.microsoft.com/office/powerpoint/2010/main" val="3811393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B17838-0D3A-4635-A352-AFED2B86CB95}" type="datetimeFigureOut">
              <a:rPr lang="en-IN" smtClean="0"/>
              <a:t>13-04-2026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8DF0F45-CB08-4917-81BA-EC915EE6F314}" type="slidenum">
              <a:rPr lang="en-IN" smtClean="0"/>
              <a:t>‹#›</a:t>
            </a:fld>
            <a:endParaRPr lang="en-IN"/>
          </a:p>
        </p:txBody>
      </p:sp>
    </p:spTree>
    <p:extLst>
      <p:ext uri="{BB962C8B-B14F-4D97-AF65-F5344CB8AC3E}">
        <p14:creationId xmlns:p14="http://schemas.microsoft.com/office/powerpoint/2010/main" val="38407709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5D067-DD07-6BA4-ED2B-006F9542DE71}"/>
              </a:ext>
            </a:extLst>
          </p:cNvPr>
          <p:cNvSpPr>
            <a:spLocks noGrp="1"/>
          </p:cNvSpPr>
          <p:nvPr>
            <p:ph type="ctrTitle"/>
          </p:nvPr>
        </p:nvSpPr>
        <p:spPr>
          <a:xfrm>
            <a:off x="2452151" y="219076"/>
            <a:ext cx="8574622" cy="1924049"/>
          </a:xfrm>
        </p:spPr>
        <p:txBody>
          <a:bodyPr>
            <a:normAutofit fontScale="90000"/>
          </a:bodyPr>
          <a:lstStyle/>
          <a:p>
            <a:pPr algn="l"/>
            <a:r>
              <a:rPr lang="en-US" b="1" dirty="0">
                <a:latin typeface="Aptos" panose="020B0004020202020204" pitchFamily="34" charset="0"/>
              </a:rPr>
              <a:t>GAUSFER 3D : From Flat Pixels to Immersive Reality</a:t>
            </a:r>
            <a:endParaRPr lang="en-IN" b="1" dirty="0">
              <a:latin typeface="Aptos" panose="020B0004020202020204" pitchFamily="34" charset="0"/>
            </a:endParaRPr>
          </a:p>
        </p:txBody>
      </p:sp>
      <p:sp>
        <p:nvSpPr>
          <p:cNvPr id="3" name="Subtitle 2">
            <a:extLst>
              <a:ext uri="{FF2B5EF4-FFF2-40B4-BE49-F238E27FC236}">
                <a16:creationId xmlns:a16="http://schemas.microsoft.com/office/drawing/2014/main" id="{88CADF6A-0DBC-1556-D400-AD26F6F5A099}"/>
              </a:ext>
            </a:extLst>
          </p:cNvPr>
          <p:cNvSpPr>
            <a:spLocks noGrp="1"/>
          </p:cNvSpPr>
          <p:nvPr>
            <p:ph type="subTitle" idx="1"/>
          </p:nvPr>
        </p:nvSpPr>
        <p:spPr>
          <a:xfrm>
            <a:off x="4029075" y="2247900"/>
            <a:ext cx="7169148" cy="3952875"/>
          </a:xfrm>
        </p:spPr>
        <p:txBody>
          <a:bodyPr>
            <a:normAutofit/>
          </a:bodyPr>
          <a:lstStyle/>
          <a:p>
            <a:pPr algn="l"/>
            <a:r>
              <a:rPr lang="en-US" sz="1800" b="1" dirty="0">
                <a:latin typeface="Times New Roman" panose="02020603050405020304" pitchFamily="18" charset="0"/>
                <a:cs typeface="Times New Roman" panose="02020603050405020304" pitchFamily="18" charset="0"/>
              </a:rPr>
              <a:t>COLLEGE OF ENGINEERING AND MANAGEMENT PUNNAPRA</a:t>
            </a:r>
          </a:p>
          <a:p>
            <a:pPr algn="l"/>
            <a:r>
              <a:rPr lang="en-US" sz="1800" b="1" dirty="0">
                <a:latin typeface="Times New Roman" panose="02020603050405020304" pitchFamily="18" charset="0"/>
                <a:cs typeface="Times New Roman" panose="02020603050405020304" pitchFamily="18" charset="0"/>
              </a:rPr>
              <a:t>GROUP NUMBER :5</a:t>
            </a:r>
          </a:p>
          <a:p>
            <a:pPr algn="l"/>
            <a:r>
              <a:rPr lang="en-US" sz="1800" b="1" dirty="0">
                <a:latin typeface="Times New Roman" panose="02020603050405020304" pitchFamily="18" charset="0"/>
                <a:cs typeface="Times New Roman" panose="02020603050405020304" pitchFamily="18" charset="0"/>
              </a:rPr>
              <a:t>GROUP MEMBERS : AMAL S KUMAR (06)</a:t>
            </a:r>
          </a:p>
          <a:p>
            <a:pPr algn="l"/>
            <a:r>
              <a:rPr lang="en-US" sz="1800" b="1" dirty="0">
                <a:latin typeface="Times New Roman" panose="02020603050405020304" pitchFamily="18" charset="0"/>
                <a:cs typeface="Times New Roman" panose="02020603050405020304" pitchFamily="18" charset="0"/>
              </a:rPr>
              <a:t>                                       ALEESHA M (05)</a:t>
            </a:r>
          </a:p>
          <a:p>
            <a:pPr algn="l"/>
            <a:r>
              <a:rPr lang="en-US" sz="1800" b="1" dirty="0">
                <a:latin typeface="Times New Roman" panose="02020603050405020304" pitchFamily="18" charset="0"/>
                <a:cs typeface="Times New Roman" panose="02020603050405020304" pitchFamily="18" charset="0"/>
              </a:rPr>
              <a:t>                                       AMBILI AMBARAN S (08)</a:t>
            </a:r>
          </a:p>
          <a:p>
            <a:pPr algn="l"/>
            <a:r>
              <a:rPr lang="en-US" sz="1800" b="1" dirty="0">
                <a:latin typeface="Times New Roman" panose="02020603050405020304" pitchFamily="18" charset="0"/>
                <a:cs typeface="Times New Roman" panose="02020603050405020304" pitchFamily="18" charset="0"/>
              </a:rPr>
              <a:t>                                       ASWIN S TUSHAR (23)</a:t>
            </a:r>
          </a:p>
          <a:p>
            <a:pPr algn="l"/>
            <a:r>
              <a:rPr lang="en-US" sz="1800" b="1" dirty="0">
                <a:latin typeface="Times New Roman" panose="02020603050405020304" pitchFamily="18" charset="0"/>
                <a:cs typeface="Times New Roman" panose="02020603050405020304" pitchFamily="18" charset="0"/>
              </a:rPr>
              <a:t>GUIDED BY : SNEHA S</a:t>
            </a:r>
          </a:p>
          <a:p>
            <a:pPr algn="l"/>
            <a:r>
              <a:rPr lang="en-US" sz="1800" b="1" dirty="0">
                <a:latin typeface="Times New Roman" panose="02020603050405020304" pitchFamily="18" charset="0"/>
                <a:cs typeface="Times New Roman" panose="02020603050405020304" pitchFamily="18" charset="0"/>
              </a:rPr>
              <a:t>DATE : 16-04-2026</a:t>
            </a:r>
          </a:p>
          <a:p>
            <a:pPr algn="l"/>
            <a:endParaRPr lang="en-US" sz="1800" b="1" dirty="0">
              <a:latin typeface="Times New Roman" panose="02020603050405020304" pitchFamily="18" charset="0"/>
              <a:cs typeface="Times New Roman" panose="02020603050405020304" pitchFamily="18" charset="0"/>
            </a:endParaRPr>
          </a:p>
          <a:p>
            <a:pPr algn="l"/>
            <a:endParaRPr lang="en-US" sz="18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9503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797B20-D07E-5060-FB43-5A04741292F3}"/>
              </a:ext>
            </a:extLst>
          </p:cNvPr>
          <p:cNvSpPr txBox="1"/>
          <p:nvPr/>
        </p:nvSpPr>
        <p:spPr>
          <a:xfrm>
            <a:off x="1771651" y="180975"/>
            <a:ext cx="9372600" cy="584775"/>
          </a:xfrm>
          <a:prstGeom prst="rect">
            <a:avLst/>
          </a:prstGeom>
          <a:noFill/>
        </p:spPr>
        <p:txBody>
          <a:bodyPr wrap="square" rtlCol="0">
            <a:spAutoFit/>
          </a:bodyPr>
          <a:lstStyle/>
          <a:p>
            <a:r>
              <a:rPr lang="en-IN" sz="3200" b="1" u="sng" dirty="0">
                <a:latin typeface="Times New Roman" panose="02020603050405020304" pitchFamily="18" charset="0"/>
                <a:cs typeface="Times New Roman" panose="02020603050405020304" pitchFamily="18" charset="0"/>
              </a:rPr>
              <a:t>CONTENTS</a:t>
            </a:r>
          </a:p>
        </p:txBody>
      </p:sp>
      <p:sp>
        <p:nvSpPr>
          <p:cNvPr id="4" name="TextBox 3">
            <a:extLst>
              <a:ext uri="{FF2B5EF4-FFF2-40B4-BE49-F238E27FC236}">
                <a16:creationId xmlns:a16="http://schemas.microsoft.com/office/drawing/2014/main" id="{5DA32057-5107-8259-0EB7-C5D095AC92DA}"/>
              </a:ext>
            </a:extLst>
          </p:cNvPr>
          <p:cNvSpPr txBox="1"/>
          <p:nvPr/>
        </p:nvSpPr>
        <p:spPr>
          <a:xfrm>
            <a:off x="1828801" y="473362"/>
            <a:ext cx="6000749" cy="6186309"/>
          </a:xfrm>
          <a:prstGeom prst="rect">
            <a:avLst/>
          </a:prstGeom>
          <a:noFill/>
        </p:spPr>
        <p:txBody>
          <a:bodyPr wrap="square" rtlCol="0">
            <a:spAutoFit/>
          </a:bodyPr>
          <a:lstStyle/>
          <a:p>
            <a:endParaRPr lang="en-IN" dirty="0"/>
          </a:p>
          <a:p>
            <a:pPr marL="342900" indent="-342900">
              <a:buAutoNum type="arabicPeriod"/>
            </a:pPr>
            <a:r>
              <a:rPr lang="en-IN" b="1" dirty="0">
                <a:latin typeface="Times New Roman" panose="02020603050405020304" pitchFamily="18" charset="0"/>
                <a:cs typeface="Times New Roman" panose="02020603050405020304" pitchFamily="18" charset="0"/>
              </a:rPr>
              <a:t>Introduction</a:t>
            </a:r>
          </a:p>
          <a:p>
            <a:pPr marL="342900" indent="-342900">
              <a:buAutoNum type="arabicPeriod"/>
            </a:pPr>
            <a:r>
              <a:rPr lang="en-IN" b="1" dirty="0">
                <a:latin typeface="Times New Roman" panose="02020603050405020304" pitchFamily="18" charset="0"/>
                <a:cs typeface="Times New Roman" panose="02020603050405020304" pitchFamily="18" charset="0"/>
              </a:rPr>
              <a:t>Literature Survey</a:t>
            </a:r>
          </a:p>
          <a:p>
            <a:pPr marL="342900" indent="-342900">
              <a:buAutoNum type="arabicPeriod"/>
            </a:pPr>
            <a:r>
              <a:rPr lang="en-IN" b="1" dirty="0">
                <a:latin typeface="Times New Roman" panose="02020603050405020304" pitchFamily="18" charset="0"/>
                <a:cs typeface="Times New Roman" panose="02020603050405020304" pitchFamily="18" charset="0"/>
              </a:rPr>
              <a:t>Problem Statement</a:t>
            </a:r>
          </a:p>
          <a:p>
            <a:pPr marL="342900" indent="-342900">
              <a:buAutoNum type="arabicPeriod"/>
            </a:pPr>
            <a:r>
              <a:rPr lang="en-IN" b="1" dirty="0">
                <a:latin typeface="Times New Roman" panose="02020603050405020304" pitchFamily="18" charset="0"/>
                <a:cs typeface="Times New Roman" panose="02020603050405020304" pitchFamily="18" charset="0"/>
              </a:rPr>
              <a:t>Research Gap</a:t>
            </a:r>
          </a:p>
          <a:p>
            <a:pPr marL="342900" indent="-342900">
              <a:buAutoNum type="arabicPeriod"/>
            </a:pPr>
            <a:r>
              <a:rPr lang="en-IN" b="1" dirty="0">
                <a:latin typeface="Times New Roman" panose="02020603050405020304" pitchFamily="18" charset="0"/>
                <a:cs typeface="Times New Roman" panose="02020603050405020304" pitchFamily="18" charset="0"/>
              </a:rPr>
              <a:t>Objectives</a:t>
            </a:r>
          </a:p>
          <a:p>
            <a:r>
              <a:rPr lang="en-IN" dirty="0">
                <a:latin typeface="Times New Roman" panose="02020603050405020304" pitchFamily="18" charset="0"/>
                <a:cs typeface="Times New Roman" panose="02020603050405020304" pitchFamily="18" charset="0"/>
              </a:rPr>
              <a:t>    5.1 Objective 1 &amp; attainment</a:t>
            </a:r>
          </a:p>
          <a:p>
            <a:r>
              <a:rPr lang="en-IN" dirty="0">
                <a:latin typeface="Times New Roman" panose="02020603050405020304" pitchFamily="18" charset="0"/>
                <a:cs typeface="Times New Roman" panose="02020603050405020304" pitchFamily="18" charset="0"/>
              </a:rPr>
              <a:t>    5.2 Objective 2 &amp; attainment</a:t>
            </a:r>
          </a:p>
          <a:p>
            <a:r>
              <a:rPr lang="en-IN" dirty="0">
                <a:latin typeface="Times New Roman" panose="02020603050405020304" pitchFamily="18" charset="0"/>
                <a:cs typeface="Times New Roman" panose="02020603050405020304" pitchFamily="18" charset="0"/>
              </a:rPr>
              <a:t>    5.3 Objective 3 &amp; attainment</a:t>
            </a:r>
          </a:p>
          <a:p>
            <a:r>
              <a:rPr lang="en-IN" dirty="0">
                <a:latin typeface="Times New Roman" panose="02020603050405020304" pitchFamily="18" charset="0"/>
                <a:cs typeface="Times New Roman" panose="02020603050405020304" pitchFamily="18" charset="0"/>
              </a:rPr>
              <a:t>    5.4 Objective 4 &amp; attainment</a:t>
            </a:r>
          </a:p>
          <a:p>
            <a:r>
              <a:rPr lang="en-IN" b="1" dirty="0">
                <a:latin typeface="Times New Roman" panose="02020603050405020304" pitchFamily="18" charset="0"/>
                <a:cs typeface="Times New Roman" panose="02020603050405020304" pitchFamily="18" charset="0"/>
              </a:rPr>
              <a:t>6.   Methodology</a:t>
            </a:r>
          </a:p>
          <a:p>
            <a:r>
              <a:rPr lang="en-IN" dirty="0">
                <a:latin typeface="Times New Roman" panose="02020603050405020304" pitchFamily="18" charset="0"/>
                <a:cs typeface="Times New Roman" panose="02020603050405020304" pitchFamily="18" charset="0"/>
              </a:rPr>
              <a:t>    6.1 Hardware Requirement</a:t>
            </a:r>
          </a:p>
          <a:p>
            <a:r>
              <a:rPr lang="en-IN" dirty="0">
                <a:latin typeface="Times New Roman" panose="02020603050405020304" pitchFamily="18" charset="0"/>
                <a:cs typeface="Times New Roman" panose="02020603050405020304" pitchFamily="18" charset="0"/>
              </a:rPr>
              <a:t>    6.2 Software Requirement</a:t>
            </a:r>
          </a:p>
          <a:p>
            <a:r>
              <a:rPr lang="en-IN" dirty="0">
                <a:latin typeface="Times New Roman" panose="02020603050405020304" pitchFamily="18" charset="0"/>
                <a:cs typeface="Times New Roman" panose="02020603050405020304" pitchFamily="18" charset="0"/>
              </a:rPr>
              <a:t>    6.3 System Architecture</a:t>
            </a:r>
          </a:p>
          <a:p>
            <a:r>
              <a:rPr lang="en-IN" dirty="0">
                <a:latin typeface="Times New Roman" panose="02020603050405020304" pitchFamily="18" charset="0"/>
                <a:cs typeface="Times New Roman" panose="02020603050405020304" pitchFamily="18" charset="0"/>
              </a:rPr>
              <a:t>    6.4 Data flow diagram</a:t>
            </a:r>
          </a:p>
          <a:p>
            <a:r>
              <a:rPr lang="en-IN" dirty="0">
                <a:latin typeface="Times New Roman" panose="02020603050405020304" pitchFamily="18" charset="0"/>
                <a:cs typeface="Times New Roman" panose="02020603050405020304" pitchFamily="18" charset="0"/>
              </a:rPr>
              <a:t>    6.5 Use case diagram</a:t>
            </a:r>
          </a:p>
          <a:p>
            <a:r>
              <a:rPr lang="en-IN" dirty="0">
                <a:latin typeface="Times New Roman" panose="02020603050405020304" pitchFamily="18" charset="0"/>
                <a:cs typeface="Times New Roman" panose="02020603050405020304" pitchFamily="18" charset="0"/>
              </a:rPr>
              <a:t>    6.6 Algorithms used</a:t>
            </a:r>
          </a:p>
          <a:p>
            <a:r>
              <a:rPr lang="en-IN" dirty="0">
                <a:latin typeface="Times New Roman" panose="02020603050405020304" pitchFamily="18" charset="0"/>
                <a:cs typeface="Times New Roman" panose="02020603050405020304" pitchFamily="18" charset="0"/>
              </a:rPr>
              <a:t>    6.7 Important piece of code</a:t>
            </a:r>
          </a:p>
          <a:p>
            <a:pPr marL="342900" indent="-342900">
              <a:buAutoNum type="arabicPeriod" startAt="7"/>
            </a:pPr>
            <a:r>
              <a:rPr lang="en-IN" b="1" dirty="0">
                <a:latin typeface="Times New Roman" panose="02020603050405020304" pitchFamily="18" charset="0"/>
                <a:cs typeface="Times New Roman" panose="02020603050405020304" pitchFamily="18" charset="0"/>
              </a:rPr>
              <a:t>Results</a:t>
            </a:r>
          </a:p>
          <a:p>
            <a:pPr marL="342900" indent="-342900">
              <a:buAutoNum type="arabicPeriod" startAt="7"/>
            </a:pPr>
            <a:r>
              <a:rPr lang="en-IN" b="1" dirty="0">
                <a:latin typeface="Times New Roman" panose="02020603050405020304" pitchFamily="18" charset="0"/>
                <a:cs typeface="Times New Roman" panose="02020603050405020304" pitchFamily="18" charset="0"/>
              </a:rPr>
              <a:t>Conclusion and future enhancements</a:t>
            </a:r>
          </a:p>
          <a:p>
            <a:pPr marL="342900" indent="-342900">
              <a:buAutoNum type="arabicPeriod" startAt="7"/>
            </a:pPr>
            <a:r>
              <a:rPr lang="en-IN" b="1" dirty="0">
                <a:latin typeface="Times New Roman" panose="02020603050405020304" pitchFamily="18" charset="0"/>
                <a:cs typeface="Times New Roman" panose="02020603050405020304" pitchFamily="18" charset="0"/>
              </a:rPr>
              <a:t>References</a:t>
            </a:r>
          </a:p>
          <a:p>
            <a:endParaRPr lang="en-IN" dirty="0"/>
          </a:p>
        </p:txBody>
      </p:sp>
    </p:spTree>
    <p:extLst>
      <p:ext uri="{BB962C8B-B14F-4D97-AF65-F5344CB8AC3E}">
        <p14:creationId xmlns:p14="http://schemas.microsoft.com/office/powerpoint/2010/main" val="3732080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818BB0-16FD-FB53-0B1A-9CC6DC9B4D4F}"/>
              </a:ext>
            </a:extLst>
          </p:cNvPr>
          <p:cNvSpPr txBox="1"/>
          <p:nvPr/>
        </p:nvSpPr>
        <p:spPr>
          <a:xfrm>
            <a:off x="1938528" y="347472"/>
            <a:ext cx="7735824" cy="584775"/>
          </a:xfrm>
          <a:prstGeom prst="rect">
            <a:avLst/>
          </a:prstGeom>
          <a:noFill/>
        </p:spPr>
        <p:txBody>
          <a:bodyPr wrap="square" rtlCol="0">
            <a:spAutoFit/>
          </a:bodyPr>
          <a:lstStyle/>
          <a:p>
            <a:r>
              <a:rPr lang="en-US" sz="3200" b="1" u="sng" dirty="0"/>
              <a:t>INTRODUCTION</a:t>
            </a:r>
            <a:endParaRPr lang="en-IN" sz="3200" b="1" u="sng" dirty="0"/>
          </a:p>
        </p:txBody>
      </p:sp>
      <p:sp>
        <p:nvSpPr>
          <p:cNvPr id="3" name="TextBox 2">
            <a:extLst>
              <a:ext uri="{FF2B5EF4-FFF2-40B4-BE49-F238E27FC236}">
                <a16:creationId xmlns:a16="http://schemas.microsoft.com/office/drawing/2014/main" id="{D749E5B9-E3D4-6C12-58FC-9B01754F7DCD}"/>
              </a:ext>
            </a:extLst>
          </p:cNvPr>
          <p:cNvSpPr txBox="1"/>
          <p:nvPr/>
        </p:nvSpPr>
        <p:spPr>
          <a:xfrm>
            <a:off x="1728216" y="1104638"/>
            <a:ext cx="9015984" cy="4555093"/>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Traditional Methods (Sparse Point Clouds):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Relied on multiple images to map scene structures.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Flaw:</a:t>
            </a:r>
            <a:r>
              <a:rPr lang="en-US" dirty="0">
                <a:latin typeface="Times New Roman" panose="02020603050405020304" pitchFamily="18" charset="0"/>
                <a:cs typeface="Times New Roman" panose="02020603050405020304" pitchFamily="18" charset="0"/>
              </a:rPr>
              <a:t> They lacked detail and could not accurately capture how lighting or appearances change from different viewing angles.</a:t>
            </a:r>
          </a:p>
          <a:p>
            <a:pPr lvl="1"/>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Neural Radiance Fields (</a:t>
            </a:r>
            <a:r>
              <a:rPr lang="en-US" b="1" dirty="0" err="1">
                <a:latin typeface="Times New Roman" panose="02020603050405020304" pitchFamily="18" charset="0"/>
                <a:cs typeface="Times New Roman" panose="02020603050405020304" pitchFamily="18" charset="0"/>
              </a:rPr>
              <a:t>NeRF</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neural networks to create an </a:t>
            </a:r>
            <a:r>
              <a:rPr lang="en-US" b="1" dirty="0">
                <a:latin typeface="Times New Roman" panose="02020603050405020304" pitchFamily="18" charset="0"/>
                <a:cs typeface="Times New Roman" panose="02020603050405020304" pitchFamily="18" charset="0"/>
              </a:rPr>
              <a:t>implicit representation</a:t>
            </a:r>
            <a:r>
              <a:rPr lang="en-US" dirty="0">
                <a:latin typeface="Times New Roman" panose="02020603050405020304" pitchFamily="18" charset="0"/>
                <a:cs typeface="Times New Roman" panose="02020603050405020304" pitchFamily="18" charset="0"/>
              </a:rPr>
              <a:t> of a scene.</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Benefits: </a:t>
            </a:r>
            <a:r>
              <a:rPr lang="en-US" dirty="0">
                <a:latin typeface="Times New Roman" panose="02020603050405020304" pitchFamily="18" charset="0"/>
                <a:cs typeface="Times New Roman" panose="02020603050405020304" pitchFamily="18" charset="0"/>
              </a:rPr>
              <a:t> Achieves incredible photorealism.</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Disadvantage: </a:t>
            </a:r>
            <a:r>
              <a:rPr lang="en-US" dirty="0">
                <a:latin typeface="Times New Roman" panose="02020603050405020304" pitchFamily="18" charset="0"/>
                <a:cs typeface="Times New Roman" panose="02020603050405020304" pitchFamily="18" charset="0"/>
              </a:rPr>
              <a:t> High computational cost; it requires ray-marching (calculating light paths) for every pixel, making real-time rendering difficult.</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3D Gaussian Splatting (3DGS):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explicit representation</a:t>
            </a:r>
            <a:r>
              <a:rPr lang="en-US" dirty="0">
                <a:latin typeface="Times New Roman" panose="02020603050405020304" pitchFamily="18" charset="0"/>
                <a:cs typeface="Times New Roman" panose="02020603050405020304" pitchFamily="18" charset="0"/>
              </a:rPr>
              <a:t> using 3D Gaussians (essentially 3D clouds of data).</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Benefits:</a:t>
            </a:r>
            <a:r>
              <a:rPr lang="en-US" dirty="0">
                <a:latin typeface="Times New Roman" panose="02020603050405020304" pitchFamily="18" charset="0"/>
                <a:cs typeface="Times New Roman" panose="02020603050405020304" pitchFamily="18" charset="0"/>
              </a:rPr>
              <a:t>  Uses rasterization-based rendering, allowing for very high frame rates (FPS) and smooth interactive viewing</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495659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43DED6-121F-4429-8CD2-91C3B4A2A923}"/>
              </a:ext>
            </a:extLst>
          </p:cNvPr>
          <p:cNvSpPr txBox="1"/>
          <p:nvPr/>
        </p:nvSpPr>
        <p:spPr>
          <a:xfrm>
            <a:off x="2011680" y="219456"/>
            <a:ext cx="7973568" cy="646331"/>
          </a:xfrm>
          <a:prstGeom prst="rect">
            <a:avLst/>
          </a:prstGeom>
          <a:noFill/>
        </p:spPr>
        <p:txBody>
          <a:bodyPr wrap="square" rtlCol="0">
            <a:spAutoFit/>
          </a:bodyPr>
          <a:lstStyle/>
          <a:p>
            <a:r>
              <a:rPr lang="en-US" sz="3600" b="1" u="sng" dirty="0">
                <a:latin typeface="Aptos" panose="020B0004020202020204" pitchFamily="34" charset="0"/>
              </a:rPr>
              <a:t>LITERATURE SURVEY</a:t>
            </a:r>
            <a:endParaRPr lang="en-IN" sz="3600" b="1" u="sng" dirty="0">
              <a:latin typeface="Aptos" panose="020B0004020202020204" pitchFamily="34" charset="0"/>
            </a:endParaRPr>
          </a:p>
        </p:txBody>
      </p:sp>
      <p:pic>
        <p:nvPicPr>
          <p:cNvPr id="4" name="table">
            <a:extLst>
              <a:ext uri="{FF2B5EF4-FFF2-40B4-BE49-F238E27FC236}">
                <a16:creationId xmlns:a16="http://schemas.microsoft.com/office/drawing/2014/main" id="{C5D34BB9-908B-A7E0-191B-D1A37E1C4446}"/>
              </a:ext>
            </a:extLst>
          </p:cNvPr>
          <p:cNvPicPr>
            <a:picLocks noChangeAspect="1"/>
          </p:cNvPicPr>
          <p:nvPr/>
        </p:nvPicPr>
        <p:blipFill>
          <a:blip r:embed="rId2"/>
          <a:stretch>
            <a:fillRect/>
          </a:stretch>
        </p:blipFill>
        <p:spPr>
          <a:xfrm>
            <a:off x="2011680" y="865787"/>
            <a:ext cx="9731208" cy="5096975"/>
          </a:xfrm>
          <a:prstGeom prst="rect">
            <a:avLst/>
          </a:prstGeom>
        </p:spPr>
      </p:pic>
    </p:spTree>
    <p:extLst>
      <p:ext uri="{BB962C8B-B14F-4D97-AF65-F5344CB8AC3E}">
        <p14:creationId xmlns:p14="http://schemas.microsoft.com/office/powerpoint/2010/main" val="3067911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able">
            <a:extLst>
              <a:ext uri="{FF2B5EF4-FFF2-40B4-BE49-F238E27FC236}">
                <a16:creationId xmlns:a16="http://schemas.microsoft.com/office/drawing/2014/main" id="{E8711262-2530-BA50-22AC-94DB90D4CBAB}"/>
              </a:ext>
            </a:extLst>
          </p:cNvPr>
          <p:cNvPicPr>
            <a:picLocks noChangeAspect="1"/>
          </p:cNvPicPr>
          <p:nvPr/>
        </p:nvPicPr>
        <p:blipFill>
          <a:blip r:embed="rId2"/>
          <a:stretch>
            <a:fillRect/>
          </a:stretch>
        </p:blipFill>
        <p:spPr>
          <a:xfrm>
            <a:off x="1695450" y="368635"/>
            <a:ext cx="10056963" cy="5849508"/>
          </a:xfrm>
          <a:prstGeom prst="rect">
            <a:avLst/>
          </a:prstGeom>
        </p:spPr>
      </p:pic>
    </p:spTree>
    <p:extLst>
      <p:ext uri="{BB962C8B-B14F-4D97-AF65-F5344CB8AC3E}">
        <p14:creationId xmlns:p14="http://schemas.microsoft.com/office/powerpoint/2010/main" val="647047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able">
            <a:extLst>
              <a:ext uri="{FF2B5EF4-FFF2-40B4-BE49-F238E27FC236}">
                <a16:creationId xmlns:a16="http://schemas.microsoft.com/office/drawing/2014/main" id="{BEC0BA8D-0ADB-09B0-B3BD-44EA51183FCE}"/>
              </a:ext>
            </a:extLst>
          </p:cNvPr>
          <p:cNvPicPr>
            <a:picLocks noChangeAspect="1"/>
          </p:cNvPicPr>
          <p:nvPr/>
        </p:nvPicPr>
        <p:blipFill>
          <a:blip r:embed="rId2"/>
          <a:stretch>
            <a:fillRect/>
          </a:stretch>
        </p:blipFill>
        <p:spPr>
          <a:xfrm>
            <a:off x="1704975" y="364650"/>
            <a:ext cx="10047438" cy="5843968"/>
          </a:xfrm>
          <a:prstGeom prst="rect">
            <a:avLst/>
          </a:prstGeom>
        </p:spPr>
      </p:pic>
    </p:spTree>
    <p:extLst>
      <p:ext uri="{BB962C8B-B14F-4D97-AF65-F5344CB8AC3E}">
        <p14:creationId xmlns:p14="http://schemas.microsoft.com/office/powerpoint/2010/main" val="949408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able">
            <a:extLst>
              <a:ext uri="{FF2B5EF4-FFF2-40B4-BE49-F238E27FC236}">
                <a16:creationId xmlns:a16="http://schemas.microsoft.com/office/drawing/2014/main" id="{4C98DCE1-DBB1-CBED-79CF-0E36CA1CA27A}"/>
              </a:ext>
            </a:extLst>
          </p:cNvPr>
          <p:cNvPicPr>
            <a:picLocks noChangeAspect="1"/>
          </p:cNvPicPr>
          <p:nvPr/>
        </p:nvPicPr>
        <p:blipFill>
          <a:blip r:embed="rId2"/>
          <a:stretch>
            <a:fillRect/>
          </a:stretch>
        </p:blipFill>
        <p:spPr>
          <a:xfrm>
            <a:off x="1657350" y="286213"/>
            <a:ext cx="10133163" cy="5893829"/>
          </a:xfrm>
          <a:prstGeom prst="rect">
            <a:avLst/>
          </a:prstGeom>
        </p:spPr>
      </p:pic>
    </p:spTree>
    <p:extLst>
      <p:ext uri="{BB962C8B-B14F-4D97-AF65-F5344CB8AC3E}">
        <p14:creationId xmlns:p14="http://schemas.microsoft.com/office/powerpoint/2010/main" val="3716924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able">
            <a:extLst>
              <a:ext uri="{FF2B5EF4-FFF2-40B4-BE49-F238E27FC236}">
                <a16:creationId xmlns:a16="http://schemas.microsoft.com/office/drawing/2014/main" id="{94DF6BC8-AC49-9A64-9810-959EC63A78A5}"/>
              </a:ext>
            </a:extLst>
          </p:cNvPr>
          <p:cNvPicPr>
            <a:picLocks noChangeAspect="1"/>
          </p:cNvPicPr>
          <p:nvPr/>
        </p:nvPicPr>
        <p:blipFill>
          <a:blip r:embed="rId2"/>
          <a:stretch>
            <a:fillRect/>
          </a:stretch>
        </p:blipFill>
        <p:spPr>
          <a:xfrm>
            <a:off x="1857374" y="237398"/>
            <a:ext cx="9820275" cy="6139507"/>
          </a:xfrm>
          <a:prstGeom prst="rect">
            <a:avLst/>
          </a:prstGeom>
        </p:spPr>
      </p:pic>
    </p:spTree>
    <p:extLst>
      <p:ext uri="{BB962C8B-B14F-4D97-AF65-F5344CB8AC3E}">
        <p14:creationId xmlns:p14="http://schemas.microsoft.com/office/powerpoint/2010/main" val="1674396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able">
            <a:extLst>
              <a:ext uri="{FF2B5EF4-FFF2-40B4-BE49-F238E27FC236}">
                <a16:creationId xmlns:a16="http://schemas.microsoft.com/office/drawing/2014/main" id="{C5F8D537-CFA7-7084-18CE-3B1AF969EA9A}"/>
              </a:ext>
            </a:extLst>
          </p:cNvPr>
          <p:cNvPicPr>
            <a:picLocks noChangeAspect="1"/>
          </p:cNvPicPr>
          <p:nvPr/>
        </p:nvPicPr>
        <p:blipFill>
          <a:blip r:embed="rId2"/>
          <a:stretch>
            <a:fillRect/>
          </a:stretch>
        </p:blipFill>
        <p:spPr>
          <a:xfrm>
            <a:off x="1762125" y="446721"/>
            <a:ext cx="9961713" cy="5807704"/>
          </a:xfrm>
          <a:prstGeom prst="rect">
            <a:avLst/>
          </a:prstGeom>
        </p:spPr>
      </p:pic>
    </p:spTree>
    <p:extLst>
      <p:ext uri="{BB962C8B-B14F-4D97-AF65-F5344CB8AC3E}">
        <p14:creationId xmlns:p14="http://schemas.microsoft.com/office/powerpoint/2010/main" val="1870747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able">
            <a:extLst>
              <a:ext uri="{FF2B5EF4-FFF2-40B4-BE49-F238E27FC236}">
                <a16:creationId xmlns:a16="http://schemas.microsoft.com/office/drawing/2014/main" id="{C7AE97C5-E555-E61B-3E6B-0BE42266A4F4}"/>
              </a:ext>
            </a:extLst>
          </p:cNvPr>
          <p:cNvPicPr>
            <a:picLocks noChangeAspect="1"/>
          </p:cNvPicPr>
          <p:nvPr/>
        </p:nvPicPr>
        <p:blipFill>
          <a:blip r:embed="rId2"/>
          <a:stretch>
            <a:fillRect/>
          </a:stretch>
        </p:blipFill>
        <p:spPr>
          <a:xfrm>
            <a:off x="1638299" y="552487"/>
            <a:ext cx="10047439" cy="5457787"/>
          </a:xfrm>
          <a:prstGeom prst="rect">
            <a:avLst/>
          </a:prstGeom>
        </p:spPr>
      </p:pic>
    </p:spTree>
    <p:extLst>
      <p:ext uri="{BB962C8B-B14F-4D97-AF65-F5344CB8AC3E}">
        <p14:creationId xmlns:p14="http://schemas.microsoft.com/office/powerpoint/2010/main" val="920021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able">
            <a:extLst>
              <a:ext uri="{FF2B5EF4-FFF2-40B4-BE49-F238E27FC236}">
                <a16:creationId xmlns:a16="http://schemas.microsoft.com/office/drawing/2014/main" id="{A9F895C0-3BEC-C3FB-B552-BF971E5A0160}"/>
              </a:ext>
            </a:extLst>
          </p:cNvPr>
          <p:cNvPicPr>
            <a:picLocks noChangeAspect="1"/>
          </p:cNvPicPr>
          <p:nvPr/>
        </p:nvPicPr>
        <p:blipFill>
          <a:blip r:embed="rId2"/>
          <a:stretch>
            <a:fillRect/>
          </a:stretch>
        </p:blipFill>
        <p:spPr>
          <a:xfrm>
            <a:off x="1586990" y="561975"/>
            <a:ext cx="10241624" cy="5410200"/>
          </a:xfrm>
          <a:prstGeom prst="rect">
            <a:avLst/>
          </a:prstGeom>
        </p:spPr>
      </p:pic>
    </p:spTree>
    <p:extLst>
      <p:ext uri="{BB962C8B-B14F-4D97-AF65-F5344CB8AC3E}">
        <p14:creationId xmlns:p14="http://schemas.microsoft.com/office/powerpoint/2010/main" val="3195803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able">
            <a:extLst>
              <a:ext uri="{FF2B5EF4-FFF2-40B4-BE49-F238E27FC236}">
                <a16:creationId xmlns:a16="http://schemas.microsoft.com/office/drawing/2014/main" id="{11B7BAC0-3014-41CB-60DA-E898EDE49A4D}"/>
              </a:ext>
            </a:extLst>
          </p:cNvPr>
          <p:cNvPicPr>
            <a:picLocks noChangeAspect="1"/>
          </p:cNvPicPr>
          <p:nvPr/>
        </p:nvPicPr>
        <p:blipFill>
          <a:blip r:embed="rId2"/>
          <a:stretch>
            <a:fillRect/>
          </a:stretch>
        </p:blipFill>
        <p:spPr>
          <a:xfrm>
            <a:off x="1511596" y="939041"/>
            <a:ext cx="10250342" cy="4979918"/>
          </a:xfrm>
          <a:prstGeom prst="rect">
            <a:avLst/>
          </a:prstGeom>
        </p:spPr>
      </p:pic>
    </p:spTree>
    <p:extLst>
      <p:ext uri="{BB962C8B-B14F-4D97-AF65-F5344CB8AC3E}">
        <p14:creationId xmlns:p14="http://schemas.microsoft.com/office/powerpoint/2010/main" val="992448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0D6483-9612-5950-7CCA-0DD3F34B445F}"/>
              </a:ext>
            </a:extLst>
          </p:cNvPr>
          <p:cNvSpPr txBox="1"/>
          <p:nvPr/>
        </p:nvSpPr>
        <p:spPr>
          <a:xfrm>
            <a:off x="2028825" y="514350"/>
            <a:ext cx="8591550" cy="584775"/>
          </a:xfrm>
          <a:prstGeom prst="rect">
            <a:avLst/>
          </a:prstGeom>
          <a:noFill/>
        </p:spPr>
        <p:txBody>
          <a:bodyPr wrap="square" rtlCol="0">
            <a:spAutoFit/>
          </a:bodyPr>
          <a:lstStyle/>
          <a:p>
            <a:r>
              <a:rPr lang="en-IN" sz="3200" b="1" u="sng" dirty="0"/>
              <a:t>PROBLEM STATEMENT</a:t>
            </a:r>
          </a:p>
        </p:txBody>
      </p:sp>
      <p:sp>
        <p:nvSpPr>
          <p:cNvPr id="3" name="TextBox 2">
            <a:extLst>
              <a:ext uri="{FF2B5EF4-FFF2-40B4-BE49-F238E27FC236}">
                <a16:creationId xmlns:a16="http://schemas.microsoft.com/office/drawing/2014/main" id="{7E959698-6067-8EDE-DE84-0D62C56788F7}"/>
              </a:ext>
            </a:extLst>
          </p:cNvPr>
          <p:cNvSpPr txBox="1"/>
          <p:nvPr/>
        </p:nvSpPr>
        <p:spPr>
          <a:xfrm>
            <a:off x="1657350" y="2143720"/>
            <a:ext cx="9572625" cy="1846659"/>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ea typeface="Urbanist"/>
                <a:cs typeface="Times New Roman" panose="02020603050405020304" pitchFamily="18" charset="0"/>
                <a:sym typeface="Urbanist"/>
              </a:rPr>
              <a:t>Development of a robust pipeline to convert unstructured 2D photos into a high-fidelity, interactive 3D model with optimized geometric consistency</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567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E157D6-C7BD-A8D0-9205-AF2CB2A8FE2B}"/>
              </a:ext>
            </a:extLst>
          </p:cNvPr>
          <p:cNvSpPr txBox="1"/>
          <p:nvPr/>
        </p:nvSpPr>
        <p:spPr>
          <a:xfrm>
            <a:off x="2105025" y="542925"/>
            <a:ext cx="9334500" cy="1323439"/>
          </a:xfrm>
          <a:prstGeom prst="rect">
            <a:avLst/>
          </a:prstGeom>
          <a:noFill/>
        </p:spPr>
        <p:txBody>
          <a:bodyPr wrap="square" rtlCol="0">
            <a:spAutoFit/>
          </a:bodyPr>
          <a:lstStyle/>
          <a:p>
            <a:r>
              <a:rPr lang="en-IN" sz="3200" b="1" u="sng" dirty="0"/>
              <a:t>RESEARCH GAP</a:t>
            </a:r>
          </a:p>
          <a:p>
            <a:endParaRPr lang="en-IN" sz="3200" b="1" u="sng" dirty="0"/>
          </a:p>
          <a:p>
            <a:endParaRPr lang="en-IN" sz="1600" b="1" u="sng" dirty="0"/>
          </a:p>
        </p:txBody>
      </p:sp>
      <p:sp>
        <p:nvSpPr>
          <p:cNvPr id="8" name="TextBox 7">
            <a:extLst>
              <a:ext uri="{FF2B5EF4-FFF2-40B4-BE49-F238E27FC236}">
                <a16:creationId xmlns:a16="http://schemas.microsoft.com/office/drawing/2014/main" id="{8E5F794B-A373-5709-23C4-B0D37D0E6C1C}"/>
              </a:ext>
            </a:extLst>
          </p:cNvPr>
          <p:cNvSpPr txBox="1"/>
          <p:nvPr/>
        </p:nvSpPr>
        <p:spPr>
          <a:xfrm>
            <a:off x="1905000" y="1075430"/>
            <a:ext cx="8039099" cy="2308324"/>
          </a:xfrm>
          <a:prstGeom prst="rect">
            <a:avLst/>
          </a:prstGeom>
          <a:noFill/>
        </p:spPr>
        <p:txBody>
          <a:bodyPr wrap="square" rtlCol="0">
            <a:spAutoFit/>
          </a:bodyPr>
          <a:lstStyle/>
          <a:p>
            <a:pPr marL="285750" indent="-285750">
              <a:buFont typeface="Wingdings" panose="05000000000000000000" pitchFamily="2" charset="2"/>
              <a:buChar char="Ø"/>
            </a:pPr>
            <a:r>
              <a:rPr lang="en-IN" u="sng" dirty="0"/>
              <a:t>Computational Latency</a:t>
            </a:r>
          </a:p>
          <a:p>
            <a:pPr lvl="1"/>
            <a:r>
              <a:rPr lang="en-US" dirty="0">
                <a:latin typeface="Urbanist"/>
                <a:ea typeface="Urbanist"/>
                <a:cs typeface="Urbanist"/>
                <a:sym typeface="Urbanist"/>
              </a:rPr>
              <a:t>Traditional </a:t>
            </a:r>
            <a:r>
              <a:rPr lang="en-US" dirty="0" err="1">
                <a:latin typeface="Urbanist"/>
                <a:ea typeface="Urbanist"/>
                <a:cs typeface="Urbanist"/>
                <a:sym typeface="Urbanist"/>
              </a:rPr>
              <a:t>NeRF</a:t>
            </a:r>
            <a:r>
              <a:rPr lang="en-US" dirty="0">
                <a:latin typeface="Urbanist"/>
                <a:ea typeface="Urbanist"/>
                <a:cs typeface="Urbanist"/>
                <a:sym typeface="Urbanist"/>
              </a:rPr>
              <a:t> models suffer from high training and inference times, making              real-time interactive rendering difficult for complex scenes</a:t>
            </a:r>
          </a:p>
          <a:p>
            <a:pPr lvl="1"/>
            <a:endParaRPr lang="en-IN" u="sng" dirty="0"/>
          </a:p>
          <a:p>
            <a:pPr marL="285750" indent="-285750">
              <a:buFont typeface="Wingdings" panose="05000000000000000000" pitchFamily="2" charset="2"/>
              <a:buChar char="Ø"/>
            </a:pPr>
            <a:r>
              <a:rPr lang="en-IN" u="sng" dirty="0"/>
              <a:t>Sparse View Fidelity</a:t>
            </a:r>
          </a:p>
          <a:p>
            <a:pPr lvl="1"/>
            <a:r>
              <a:rPr lang="en-US" dirty="0">
                <a:latin typeface="Urbanist"/>
                <a:ea typeface="Urbanist"/>
                <a:cs typeface="Urbanist"/>
                <a:sym typeface="Urbanist"/>
              </a:rPr>
              <a:t>Current algorithms degrade significantly in geometric accuracy when input 2D data is sparse or has limited angular coverage.</a:t>
            </a:r>
          </a:p>
          <a:p>
            <a:pPr lvl="1"/>
            <a:endParaRPr lang="en-IN" u="sng" dirty="0">
              <a:latin typeface="Urbanist"/>
              <a:ea typeface="Urbanist"/>
              <a:cs typeface="Urbanist"/>
              <a:sym typeface="Urbanist"/>
            </a:endParaRPr>
          </a:p>
        </p:txBody>
      </p:sp>
      <p:sp>
        <p:nvSpPr>
          <p:cNvPr id="9" name="TextBox 8">
            <a:extLst>
              <a:ext uri="{FF2B5EF4-FFF2-40B4-BE49-F238E27FC236}">
                <a16:creationId xmlns:a16="http://schemas.microsoft.com/office/drawing/2014/main" id="{CDA7AB45-46D3-D15A-00EB-2620AD40C254}"/>
              </a:ext>
            </a:extLst>
          </p:cNvPr>
          <p:cNvSpPr txBox="1"/>
          <p:nvPr/>
        </p:nvSpPr>
        <p:spPr>
          <a:xfrm>
            <a:off x="1905000" y="3257550"/>
            <a:ext cx="7762875" cy="923330"/>
          </a:xfrm>
          <a:prstGeom prst="rect">
            <a:avLst/>
          </a:prstGeom>
          <a:noFill/>
        </p:spPr>
        <p:txBody>
          <a:bodyPr wrap="square" rtlCol="0">
            <a:spAutoFit/>
          </a:bodyPr>
          <a:lstStyle/>
          <a:p>
            <a:pPr marL="285750" indent="-285750">
              <a:buFont typeface="Wingdings" panose="05000000000000000000" pitchFamily="2" charset="2"/>
              <a:buChar char="Ø"/>
            </a:pPr>
            <a:r>
              <a:rPr lang="en-IN" u="sng" dirty="0"/>
              <a:t>Storage Overhead</a:t>
            </a:r>
          </a:p>
          <a:p>
            <a:pPr lvl="1"/>
            <a:r>
              <a:rPr lang="en-US" dirty="0">
                <a:latin typeface="Urbanist"/>
                <a:ea typeface="Urbanist"/>
                <a:cs typeface="Urbanist"/>
                <a:sym typeface="Urbanist"/>
              </a:rPr>
              <a:t>3D Gaussian Splatting achieves high speeds but introduces massive disk storage requirements for high-resolution point cloud splats</a:t>
            </a:r>
            <a:endParaRPr lang="en-IN" u="sng" dirty="0"/>
          </a:p>
        </p:txBody>
      </p:sp>
    </p:spTree>
    <p:extLst>
      <p:ext uri="{BB962C8B-B14F-4D97-AF65-F5344CB8AC3E}">
        <p14:creationId xmlns:p14="http://schemas.microsoft.com/office/powerpoint/2010/main" val="1779364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B7E212-7ED8-F06B-E33B-5BEE5A6BA25E}"/>
              </a:ext>
            </a:extLst>
          </p:cNvPr>
          <p:cNvSpPr txBox="1"/>
          <p:nvPr/>
        </p:nvSpPr>
        <p:spPr>
          <a:xfrm>
            <a:off x="1800225" y="320456"/>
            <a:ext cx="10039350" cy="5232202"/>
          </a:xfrm>
          <a:prstGeom prst="rect">
            <a:avLst/>
          </a:prstGeom>
          <a:noFill/>
        </p:spPr>
        <p:txBody>
          <a:bodyPr wrap="square" rtlCol="0">
            <a:spAutoFit/>
          </a:bodyPr>
          <a:lstStyle/>
          <a:p>
            <a:r>
              <a:rPr lang="en-IN" sz="3200" b="1" u="sng" dirty="0"/>
              <a:t>OBJECVTIVES</a:t>
            </a:r>
          </a:p>
          <a:p>
            <a:endParaRPr lang="en-IN" sz="1600" b="1" u="sng" dirty="0"/>
          </a:p>
          <a:p>
            <a:pPr marL="285750" indent="-285750" fontAlgn="base">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reconstruct accurate 3D models from 2D image datasets using a stabilized optimization pipeline.</a:t>
            </a:r>
            <a:br>
              <a:rPr lang="en-US" sz="16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fontAlgn="base">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utilize </a:t>
            </a:r>
            <a:r>
              <a:rPr lang="en-US" dirty="0" err="1">
                <a:latin typeface="Times New Roman" panose="02020603050405020304" pitchFamily="18" charset="0"/>
                <a:cs typeface="Times New Roman" panose="02020603050405020304" pitchFamily="18" charset="0"/>
              </a:rPr>
              <a:t>NeRF</a:t>
            </a:r>
            <a:r>
              <a:rPr lang="en-US" dirty="0">
                <a:latin typeface="Times New Roman" panose="02020603050405020304" pitchFamily="18" charset="0"/>
                <a:cs typeface="Times New Roman" panose="02020603050405020304" pitchFamily="18" charset="0"/>
              </a:rPr>
              <a:t> for high-quality volumetric representation and spatial density mapping.</a:t>
            </a:r>
            <a:br>
              <a:rPr lang="en-US" sz="16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fontAlgn="base">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apply Aggressive 3D Gaussian Densification and Scale Clamping for sharp, detailed real-time rendering.</a:t>
            </a:r>
            <a:br>
              <a:rPr lang="en-US" sz="16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fontAlgn="base">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 co-optimization engine that targets and prunes Gaussians in low-density regions (density &lt; 0.01) to eliminate artifacts.</a:t>
            </a:r>
            <a:br>
              <a:rPr lang="en-US" sz="16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fontAlgn="base">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optimize the system for interactive performance by implementing chunked evaluation and SH-degree (Spherical Harmonics) warmup strategies.</a:t>
            </a:r>
            <a:br>
              <a:rPr lang="en-US" sz="16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fontAlgn="base">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design a user-centric interface for manual parameter control and real-time ETA tracking during the reconstruction process.</a:t>
            </a:r>
            <a:endParaRPr lang="en-US" b="1" dirty="0">
              <a:latin typeface="Times New Roman" panose="02020603050405020304" pitchFamily="18" charset="0"/>
              <a:cs typeface="Times New Roman" panose="02020603050405020304" pitchFamily="18" charset="0"/>
            </a:endParaRPr>
          </a:p>
          <a:p>
            <a:endParaRPr lang="en-IN" sz="1600" b="1" u="sng" dirty="0"/>
          </a:p>
        </p:txBody>
      </p:sp>
    </p:spTree>
    <p:extLst>
      <p:ext uri="{BB962C8B-B14F-4D97-AF65-F5344CB8AC3E}">
        <p14:creationId xmlns:p14="http://schemas.microsoft.com/office/powerpoint/2010/main" val="2932826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CBAB44-AB17-E6AC-AA06-26D52C3C6855}"/>
              </a:ext>
            </a:extLst>
          </p:cNvPr>
          <p:cNvSpPr txBox="1"/>
          <p:nvPr/>
        </p:nvSpPr>
        <p:spPr>
          <a:xfrm>
            <a:off x="1609725" y="1166842"/>
            <a:ext cx="10582275"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Objective: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reconstruct accurate 3D models from multiple 2D images.</a:t>
            </a:r>
          </a:p>
          <a:p>
            <a:r>
              <a:rPr lang="en-US" b="1" dirty="0">
                <a:latin typeface="Times New Roman" panose="02020603050405020304" pitchFamily="18" charset="0"/>
                <a:cs typeface="Times New Roman" panose="02020603050405020304" pitchFamily="18" charset="0"/>
              </a:rPr>
              <a:t>Attainment: </a:t>
            </a:r>
            <a:r>
              <a:rPr lang="en-US" dirty="0">
                <a:latin typeface="Times New Roman" panose="02020603050405020304" pitchFamily="18" charset="0"/>
                <a:cs typeface="Times New Roman" panose="02020603050405020304" pitchFamily="18" charset="0"/>
              </a:rPr>
              <a:t>Successfully generated accurate 3D models using multi-view image inputs.</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Objective: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utilize Neural Radiance Fields (</a:t>
            </a:r>
            <a:r>
              <a:rPr lang="en-US" dirty="0" err="1">
                <a:latin typeface="Times New Roman" panose="02020603050405020304" pitchFamily="18" charset="0"/>
                <a:cs typeface="Times New Roman" panose="02020603050405020304" pitchFamily="18" charset="0"/>
              </a:rPr>
              <a:t>NeRF</a:t>
            </a:r>
            <a:r>
              <a:rPr lang="en-US" dirty="0">
                <a:latin typeface="Times New Roman" panose="02020603050405020304" pitchFamily="18" charset="0"/>
                <a:cs typeface="Times New Roman" panose="02020603050405020304" pitchFamily="18" charset="0"/>
              </a:rPr>
              <a:t>) for high-quality volumetric scene representation</a:t>
            </a:r>
          </a:p>
          <a:p>
            <a:r>
              <a:rPr lang="en-US" b="1" dirty="0">
                <a:latin typeface="Times New Roman" panose="02020603050405020304" pitchFamily="18" charset="0"/>
                <a:cs typeface="Times New Roman" panose="02020603050405020304" pitchFamily="18" charset="0"/>
              </a:rPr>
              <a:t>Attainment: </a:t>
            </a:r>
            <a:r>
              <a:rPr lang="en-US" dirty="0">
                <a:latin typeface="Times New Roman" panose="02020603050405020304" pitchFamily="18" charset="0"/>
                <a:cs typeface="Times New Roman" panose="02020603050405020304" pitchFamily="18" charset="0"/>
              </a:rPr>
              <a:t>Implemented </a:t>
            </a:r>
            <a:r>
              <a:rPr lang="en-US" dirty="0" err="1">
                <a:latin typeface="Times New Roman" panose="02020603050405020304" pitchFamily="18" charset="0"/>
                <a:cs typeface="Times New Roman" panose="02020603050405020304" pitchFamily="18" charset="0"/>
              </a:rPr>
              <a:t>NeRF</a:t>
            </a:r>
            <a:r>
              <a:rPr lang="en-US" dirty="0">
                <a:latin typeface="Times New Roman" panose="02020603050405020304" pitchFamily="18" charset="0"/>
                <a:cs typeface="Times New Roman" panose="02020603050405020304" pitchFamily="18" charset="0"/>
              </a:rPr>
              <a:t> to achieve high-quality and realistic scene reconstruction.</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To apply 3D Gaussian Splatting for fast and efficient real-time rendering.</a:t>
            </a:r>
          </a:p>
          <a:p>
            <a:r>
              <a:rPr lang="en-US" b="1" dirty="0">
                <a:latin typeface="Times New Roman" panose="02020603050405020304" pitchFamily="18" charset="0"/>
                <a:cs typeface="Times New Roman" panose="02020603050405020304" pitchFamily="18" charset="0"/>
              </a:rPr>
              <a:t>Attainment: </a:t>
            </a:r>
            <a:r>
              <a:rPr lang="en-US" dirty="0">
                <a:latin typeface="Times New Roman" panose="02020603050405020304" pitchFamily="18" charset="0"/>
                <a:cs typeface="Times New Roman" panose="02020603050405020304" pitchFamily="18" charset="0"/>
              </a:rPr>
              <a:t>Achieved faster and efficient rendering using Gaussian Splatting.</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Objective: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develop a hybrid pipeline combining </a:t>
            </a:r>
            <a:r>
              <a:rPr lang="en-US" dirty="0" err="1">
                <a:latin typeface="Times New Roman" panose="02020603050405020304" pitchFamily="18" charset="0"/>
                <a:cs typeface="Times New Roman" panose="02020603050405020304" pitchFamily="18" charset="0"/>
              </a:rPr>
              <a:t>NeRF</a:t>
            </a:r>
            <a:r>
              <a:rPr lang="en-US" dirty="0">
                <a:latin typeface="Times New Roman" panose="02020603050405020304" pitchFamily="18" charset="0"/>
                <a:cs typeface="Times New Roman" panose="02020603050405020304" pitchFamily="18" charset="0"/>
              </a:rPr>
              <a:t> accuracy with splatting speed.</a:t>
            </a:r>
          </a:p>
          <a:p>
            <a:r>
              <a:rPr lang="en-US" b="1" dirty="0">
                <a:latin typeface="Times New Roman" panose="02020603050405020304" pitchFamily="18" charset="0"/>
                <a:cs typeface="Times New Roman" panose="02020603050405020304" pitchFamily="18" charset="0"/>
              </a:rPr>
              <a:t>Attainment: </a:t>
            </a:r>
            <a:r>
              <a:rPr lang="en-US" dirty="0">
                <a:latin typeface="Times New Roman" panose="02020603050405020304" pitchFamily="18" charset="0"/>
                <a:cs typeface="Times New Roman" panose="02020603050405020304" pitchFamily="18" charset="0"/>
              </a:rPr>
              <a:t>Designed a hybrid system balancing accuracy and rendering speed</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To optimize the system for high visual quality and performance.</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Attainment:</a:t>
            </a:r>
            <a:r>
              <a:rPr lang="en-US" dirty="0">
                <a:latin typeface="Times New Roman" panose="02020603050405020304" pitchFamily="18" charset="0"/>
                <a:cs typeface="Times New Roman" panose="02020603050405020304" pitchFamily="18" charset="0"/>
              </a:rPr>
              <a:t> Improved visual quality and ensured smooth interactive performance</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3208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BD7C9-19E5-5795-3C56-8C02709EE442}"/>
              </a:ext>
            </a:extLst>
          </p:cNvPr>
          <p:cNvSpPr txBox="1"/>
          <p:nvPr/>
        </p:nvSpPr>
        <p:spPr>
          <a:xfrm>
            <a:off x="1810512" y="320040"/>
            <a:ext cx="7735824" cy="646331"/>
          </a:xfrm>
          <a:prstGeom prst="rect">
            <a:avLst/>
          </a:prstGeom>
          <a:noFill/>
        </p:spPr>
        <p:txBody>
          <a:bodyPr wrap="square" rtlCol="0">
            <a:spAutoFit/>
          </a:bodyPr>
          <a:lstStyle/>
          <a:p>
            <a:r>
              <a:rPr lang="en-US" sz="3600" b="1" u="sng" dirty="0">
                <a:latin typeface="Times New Roman" panose="02020603050405020304" pitchFamily="18" charset="0"/>
                <a:cs typeface="Times New Roman" panose="02020603050405020304" pitchFamily="18" charset="0"/>
              </a:rPr>
              <a:t>METHODOLOGY</a:t>
            </a:r>
            <a:endParaRPr lang="en-IN" sz="3600" b="1"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0CAB400-1193-ECE0-AAE4-9C08B5200170}"/>
              </a:ext>
            </a:extLst>
          </p:cNvPr>
          <p:cNvSpPr txBox="1"/>
          <p:nvPr/>
        </p:nvSpPr>
        <p:spPr>
          <a:xfrm>
            <a:off x="1673352" y="1124712"/>
            <a:ext cx="9720072" cy="4093428"/>
          </a:xfrm>
          <a:prstGeom prst="rect">
            <a:avLst/>
          </a:prstGeom>
          <a:noFill/>
        </p:spPr>
        <p:txBody>
          <a:bodyPr wrap="square" rtlCol="0">
            <a:spAutoFit/>
          </a:bodyPr>
          <a:lstStyle/>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Three-Stage Hybrid Pipeline</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Transitioning 2D pixel data into an immersive 3D environment.</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Integrates implicit neural guidance with explicit primitive optimization</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 Pre-processing and Pose Estimation</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Frame Extraction &amp; Filtering: Using a Laplacian variance threshold to eliminate motion blur.</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Geometric Initialization: Implementing the COLMAP Structure-from-Motion (</a:t>
            </a:r>
            <a:r>
              <a:rPr lang="en-IN" sz="2000" dirty="0" err="1">
                <a:latin typeface="Times New Roman" panose="02020603050405020304" pitchFamily="18" charset="0"/>
                <a:cs typeface="Times New Roman" panose="02020603050405020304" pitchFamily="18" charset="0"/>
              </a:rPr>
              <a:t>SfM</a:t>
            </a:r>
            <a:r>
              <a:rPr lang="en-IN" sz="2000" dirty="0">
                <a:latin typeface="Times New Roman" panose="02020603050405020304" pitchFamily="18" charset="0"/>
                <a:cs typeface="Times New Roman" panose="02020603050405020304" pitchFamily="18" charset="0"/>
              </a:rPr>
              <a:t>) pipeline.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Coordinate Calibration: Establishing consistent camera intrinsics and </a:t>
            </a:r>
            <a:r>
              <a:rPr lang="en-IN" sz="2000" dirty="0" err="1">
                <a:latin typeface="Times New Roman" panose="02020603050405020304" pitchFamily="18" charset="0"/>
                <a:cs typeface="Times New Roman" panose="02020603050405020304" pitchFamily="18" charset="0"/>
              </a:rPr>
              <a:t>extrinsics</a:t>
            </a:r>
            <a:r>
              <a:rPr lang="en-IN" sz="2000" dirty="0">
                <a:latin typeface="Times New Roman" panose="02020603050405020304" pitchFamily="18" charset="0"/>
                <a:cs typeface="Times New Roman" panose="02020603050405020304" pitchFamily="18" charset="0"/>
              </a:rPr>
              <a:t> for the global coordinate system.</a:t>
            </a:r>
          </a:p>
        </p:txBody>
      </p:sp>
    </p:spTree>
    <p:extLst>
      <p:ext uri="{BB962C8B-B14F-4D97-AF65-F5344CB8AC3E}">
        <p14:creationId xmlns:p14="http://schemas.microsoft.com/office/powerpoint/2010/main" val="1630521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167684-CDCD-6B8B-D975-52CEB326F1D9}"/>
              </a:ext>
            </a:extLst>
          </p:cNvPr>
          <p:cNvSpPr txBox="1"/>
          <p:nvPr/>
        </p:nvSpPr>
        <p:spPr>
          <a:xfrm>
            <a:off x="1819656" y="969264"/>
            <a:ext cx="9619488" cy="4093428"/>
          </a:xfrm>
          <a:prstGeom prst="rect">
            <a:avLst/>
          </a:prstGeom>
          <a:noFill/>
        </p:spPr>
        <p:txBody>
          <a:bodyPr wrap="square" rtlCol="0">
            <a:spAutoFit/>
          </a:bodyPr>
          <a:lstStyle/>
          <a:p>
            <a:r>
              <a:rPr lang="en-US" sz="2000" b="1" dirty="0">
                <a:latin typeface="Aptos" panose="020B0004020202020204" pitchFamily="34" charset="0"/>
              </a:rPr>
              <a:t>B</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NeRF</a:t>
            </a:r>
            <a:r>
              <a:rPr lang="en-US" sz="2000" b="1" dirty="0">
                <a:latin typeface="Times New Roman" panose="02020603050405020304" pitchFamily="18" charset="0"/>
                <a:cs typeface="Times New Roman" panose="02020603050405020304" pitchFamily="18" charset="0"/>
              </a:rPr>
              <a:t>-Guided Volumetric Scaffold (The Brain) </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Neural Guide:  Begin by setting up a 5-layer neural network (MLP) that serves to understand the basic shape of the object.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Creating a 3D Grid: The scene divides into a 3D grid (voxels), which makes it faster and easier for the computer to process.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Finding the Surface: Check the density (</a:t>
            </a:r>
            <a:r>
              <a:rPr lang="el-GR" sz="2000"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 at each point. If the density is high (over 15.0),  label it as a solid surface.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Smart Seeding: Instead of placing 3D points (Gaussians) everywhere, only place them where the neural guide indicates there is a solid object.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6374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63FA8-DB23-1A6F-E4CA-1A01A7AE99A9}"/>
              </a:ext>
            </a:extLst>
          </p:cNvPr>
          <p:cNvSpPr txBox="1"/>
          <p:nvPr/>
        </p:nvSpPr>
        <p:spPr>
          <a:xfrm>
            <a:off x="1810512" y="777240"/>
            <a:ext cx="9912096" cy="4770537"/>
          </a:xfrm>
          <a:prstGeom prst="rect">
            <a:avLst/>
          </a:prstGeom>
          <a:noFill/>
        </p:spPr>
        <p:txBody>
          <a:bodyPr wrap="square" rtlCol="0">
            <a:spAutoFit/>
          </a:bodyPr>
          <a:lstStyle/>
          <a:p>
            <a:r>
              <a:rPr lang="en-US" sz="2400" b="1" dirty="0">
                <a:latin typeface="Aptos" panose="020B0004020202020204" pitchFamily="34" charset="0"/>
              </a:rPr>
              <a:t>C. Adaptive Hybrid Optimization</a:t>
            </a:r>
          </a:p>
          <a:p>
            <a:endParaRPr lang="en-US" sz="2000" b="1" dirty="0">
              <a:latin typeface="Aptos" panose="020B0004020202020204" pitchFamily="34"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Guided Densification Logic uses a three-step validation to prevent artifacts: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Gradient Check:  monitor the positional gradients  ∇L to see where the model needs more detail.</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Density Validation: * If ∇L is high AND the </a:t>
            </a:r>
            <a:r>
              <a:rPr lang="en-US" sz="2000" dirty="0" err="1">
                <a:latin typeface="Times New Roman" panose="02020603050405020304" pitchFamily="18" charset="0"/>
                <a:cs typeface="Times New Roman" panose="02020603050405020304" pitchFamily="18" charset="0"/>
              </a:rPr>
              <a:t>NeRF</a:t>
            </a:r>
            <a:r>
              <a:rPr lang="en-US" sz="2000" dirty="0">
                <a:latin typeface="Times New Roman" panose="02020603050405020304" pitchFamily="18" charset="0"/>
                <a:cs typeface="Times New Roman" panose="02020603050405020304" pitchFamily="18" charset="0"/>
              </a:rPr>
              <a:t> says there is matter there (</a:t>
            </a:r>
            <a:r>
              <a:rPr lang="el-GR" sz="2000" b="1"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&gt; </a:t>
            </a:r>
            <a:r>
              <a:rPr lang="el-GR" sz="2000" dirty="0">
                <a:latin typeface="Times New Roman" panose="02020603050405020304" pitchFamily="18" charset="0"/>
                <a:cs typeface="Times New Roman" panose="02020603050405020304" pitchFamily="18" charset="0"/>
              </a:rPr>
              <a:t>τ</a:t>
            </a:r>
            <a:r>
              <a:rPr lang="en-US" sz="2000" dirty="0">
                <a:latin typeface="Times New Roman" panose="02020603050405020304" pitchFamily="18" charset="0"/>
                <a:cs typeface="Times New Roman" panose="02020603050405020304" pitchFamily="18" charset="0"/>
              </a:rPr>
              <a:t>), the Gaussian is split to add detail.</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If the </a:t>
            </a:r>
            <a:r>
              <a:rPr lang="en-US" sz="2000" dirty="0" err="1">
                <a:latin typeface="Times New Roman" panose="02020603050405020304" pitchFamily="18" charset="0"/>
                <a:cs typeface="Times New Roman" panose="02020603050405020304" pitchFamily="18" charset="0"/>
              </a:rPr>
              <a:t>NeRF</a:t>
            </a:r>
            <a:r>
              <a:rPr lang="en-US" sz="2000" dirty="0">
                <a:latin typeface="Times New Roman" panose="02020603050405020304" pitchFamily="18" charset="0"/>
                <a:cs typeface="Times New Roman" panose="02020603050405020304" pitchFamily="18" charset="0"/>
              </a:rPr>
              <a:t> says the space is empty (</a:t>
            </a:r>
            <a:r>
              <a:rPr lang="el-GR" sz="2000" b="1"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0), the Gaussian is pruned (deleted).</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By pruning Gaussians that don't match the </a:t>
            </a:r>
            <a:r>
              <a:rPr lang="en-US" sz="2000" dirty="0" err="1">
                <a:latin typeface="Times New Roman" panose="02020603050405020304" pitchFamily="18" charset="0"/>
                <a:cs typeface="Times New Roman" panose="02020603050405020304" pitchFamily="18" charset="0"/>
              </a:rPr>
              <a:t>NeRF's</a:t>
            </a:r>
            <a:r>
              <a:rPr lang="en-US" sz="2000" dirty="0">
                <a:latin typeface="Times New Roman" panose="02020603050405020304" pitchFamily="18" charset="0"/>
                <a:cs typeface="Times New Roman" panose="02020603050405020304" pitchFamily="18" charset="0"/>
              </a:rPr>
              <a:t> memory , eliminate floaters (the stray pixels often seen in 3DGS)</a:t>
            </a:r>
          </a:p>
          <a:p>
            <a:endParaRPr lang="en-IN" sz="2000" dirty="0">
              <a:latin typeface="Aptos" panose="020B0004020202020204" pitchFamily="34" charset="0"/>
            </a:endParaRPr>
          </a:p>
        </p:txBody>
      </p:sp>
    </p:spTree>
    <p:extLst>
      <p:ext uri="{BB962C8B-B14F-4D97-AF65-F5344CB8AC3E}">
        <p14:creationId xmlns:p14="http://schemas.microsoft.com/office/powerpoint/2010/main" val="3678443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9AC297-F73E-BB59-BFB2-829FD681266C}"/>
              </a:ext>
            </a:extLst>
          </p:cNvPr>
          <p:cNvSpPr txBox="1"/>
          <p:nvPr/>
        </p:nvSpPr>
        <p:spPr>
          <a:xfrm>
            <a:off x="1581150" y="1009650"/>
            <a:ext cx="10077450" cy="3720506"/>
          </a:xfrm>
          <a:prstGeom prst="rect">
            <a:avLst/>
          </a:prstGeom>
          <a:noFill/>
        </p:spPr>
        <p:txBody>
          <a:bodyPr wrap="square" rtlCol="0">
            <a:spAutoFit/>
          </a:bodyPr>
          <a:lstStyle/>
          <a:p>
            <a:r>
              <a:rPr lang="en-IN" sz="3200" b="1" u="sng" dirty="0"/>
              <a:t>HARDWARE REQUIREMENTS</a:t>
            </a:r>
          </a:p>
          <a:p>
            <a:endParaRPr lang="en-IN" u="sng" dirty="0"/>
          </a:p>
          <a:p>
            <a:pPr>
              <a:lnSpc>
                <a:spcPct val="150000"/>
              </a:lnSpc>
            </a:pPr>
            <a:r>
              <a:rPr lang="en-IN" dirty="0">
                <a:latin typeface="Times New Roman" panose="02020603050405020304" pitchFamily="18" charset="0"/>
                <a:cs typeface="Times New Roman" panose="02020603050405020304" pitchFamily="18" charset="0"/>
              </a:rPr>
              <a:t>The proposed system requires a GPU-enabled environment because both neural reconstruction and Gaussian rendering involve intensive computation. The hardware requirements are:</a:t>
            </a:r>
          </a:p>
          <a:p>
            <a:pPr>
              <a:lnSpc>
                <a:spcPct val="150000"/>
              </a:lnSpc>
            </a:pPr>
            <a:r>
              <a:rPr lang="en-IN" dirty="0">
                <a:latin typeface="Times New Roman" panose="02020603050405020304" pitchFamily="18" charset="0"/>
                <a:cs typeface="Times New Roman" panose="02020603050405020304" pitchFamily="18" charset="0"/>
              </a:rPr>
              <a:t>1.NVIDIA CUDA-supported GPU</a:t>
            </a:r>
          </a:p>
          <a:p>
            <a:pPr>
              <a:lnSpc>
                <a:spcPct val="150000"/>
              </a:lnSpc>
            </a:pPr>
            <a:r>
              <a:rPr lang="en-IN" dirty="0">
                <a:latin typeface="Times New Roman" panose="02020603050405020304" pitchFamily="18" charset="0"/>
                <a:cs typeface="Times New Roman" panose="02020603050405020304" pitchFamily="18" charset="0"/>
              </a:rPr>
              <a:t>2.Multi-core processor</a:t>
            </a:r>
          </a:p>
          <a:p>
            <a:pPr>
              <a:lnSpc>
                <a:spcPct val="150000"/>
              </a:lnSpc>
            </a:pPr>
            <a:r>
              <a:rPr lang="en-IN" dirty="0">
                <a:latin typeface="Times New Roman" panose="02020603050405020304" pitchFamily="18" charset="0"/>
                <a:cs typeface="Times New Roman" panose="02020603050405020304" pitchFamily="18" charset="0"/>
              </a:rPr>
              <a:t>3.Minimum 8 GB RAM or above</a:t>
            </a:r>
          </a:p>
          <a:p>
            <a:pPr>
              <a:lnSpc>
                <a:spcPct val="150000"/>
              </a:lnSpc>
            </a:pPr>
            <a:r>
              <a:rPr lang="en-IN" dirty="0">
                <a:latin typeface="Times New Roman" panose="02020603050405020304" pitchFamily="18" charset="0"/>
                <a:cs typeface="Times New Roman" panose="02020603050405020304" pitchFamily="18" charset="0"/>
              </a:rPr>
              <a:t>4.Adequate secondary storage for datasets and output files</a:t>
            </a:r>
          </a:p>
          <a:p>
            <a:pPr>
              <a:lnSpc>
                <a:spcPct val="150000"/>
              </a:lnSpc>
            </a:pPr>
            <a:r>
              <a:rPr lang="en-IN" dirty="0">
                <a:latin typeface="Times New Roman" panose="02020603050405020304" pitchFamily="18" charset="0"/>
                <a:cs typeface="Times New Roman" panose="02020603050405020304" pitchFamily="18" charset="0"/>
              </a:rPr>
              <a:t>5.Display monitor, keyboard, and mouse for user interaction</a:t>
            </a:r>
          </a:p>
        </p:txBody>
      </p:sp>
    </p:spTree>
    <p:extLst>
      <p:ext uri="{BB962C8B-B14F-4D97-AF65-F5344CB8AC3E}">
        <p14:creationId xmlns:p14="http://schemas.microsoft.com/office/powerpoint/2010/main" val="2644115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E61C22-E4C0-648E-36C2-ADA277408F63}"/>
              </a:ext>
            </a:extLst>
          </p:cNvPr>
          <p:cNvSpPr txBox="1"/>
          <p:nvPr/>
        </p:nvSpPr>
        <p:spPr>
          <a:xfrm>
            <a:off x="1866900" y="1056084"/>
            <a:ext cx="10144125" cy="4520725"/>
          </a:xfrm>
          <a:prstGeom prst="rect">
            <a:avLst/>
          </a:prstGeom>
          <a:noFill/>
        </p:spPr>
        <p:txBody>
          <a:bodyPr wrap="square" rtlCol="0">
            <a:spAutoFit/>
          </a:bodyPr>
          <a:lstStyle/>
          <a:p>
            <a:pPr>
              <a:lnSpc>
                <a:spcPct val="150000"/>
              </a:lnSpc>
            </a:pPr>
            <a:r>
              <a:rPr lang="en-IN" sz="3200" b="1" u="sng" dirty="0">
                <a:latin typeface="Times New Roman" panose="02020603050405020304" pitchFamily="18" charset="0"/>
                <a:cs typeface="Times New Roman" panose="02020603050405020304" pitchFamily="18" charset="0"/>
              </a:rPr>
              <a:t>SOFTWARE REQUIREMENTS</a:t>
            </a:r>
          </a:p>
          <a:p>
            <a:pPr>
              <a:lnSpc>
                <a:spcPct val="150000"/>
              </a:lnSpc>
            </a:pPr>
            <a:r>
              <a:rPr lang="en-IN" dirty="0">
                <a:latin typeface="Times New Roman" panose="02020603050405020304" pitchFamily="18" charset="0"/>
                <a:cs typeface="Times New Roman" panose="02020603050405020304" pitchFamily="18" charset="0"/>
              </a:rPr>
              <a:t>The software requirements for the proposed system are:</a:t>
            </a:r>
          </a:p>
          <a:p>
            <a:pPr>
              <a:lnSpc>
                <a:spcPct val="150000"/>
              </a:lnSpc>
            </a:pPr>
            <a:r>
              <a:rPr lang="en-IN" dirty="0">
                <a:latin typeface="Times New Roman" panose="02020603050405020304" pitchFamily="18" charset="0"/>
                <a:cs typeface="Times New Roman" panose="02020603050405020304" pitchFamily="18" charset="0"/>
              </a:rPr>
              <a:t>1.Operating System – Windows or Linux</a:t>
            </a:r>
          </a:p>
          <a:p>
            <a:pPr>
              <a:lnSpc>
                <a:spcPct val="150000"/>
              </a:lnSpc>
            </a:pPr>
            <a:r>
              <a:rPr lang="en-IN" dirty="0">
                <a:latin typeface="Times New Roman" panose="02020603050405020304" pitchFamily="18" charset="0"/>
                <a:cs typeface="Times New Roman" panose="02020603050405020304" pitchFamily="18" charset="0"/>
              </a:rPr>
              <a:t>2.Programming Language – Python</a:t>
            </a:r>
          </a:p>
          <a:p>
            <a:pPr>
              <a:lnSpc>
                <a:spcPct val="150000"/>
              </a:lnSpc>
            </a:pPr>
            <a:r>
              <a:rPr lang="en-IN" dirty="0">
                <a:latin typeface="Times New Roman" panose="02020603050405020304" pitchFamily="18" charset="0"/>
                <a:cs typeface="Times New Roman" panose="02020603050405020304" pitchFamily="18" charset="0"/>
              </a:rPr>
              <a:t>3.Deep Learning Framework – </a:t>
            </a:r>
            <a:r>
              <a:rPr lang="en-IN" dirty="0" err="1">
                <a:latin typeface="Times New Roman" panose="02020603050405020304" pitchFamily="18" charset="0"/>
                <a:cs typeface="Times New Roman" panose="02020603050405020304" pitchFamily="18" charset="0"/>
              </a:rPr>
              <a:t>PyTorch</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4.GPU Acceleration Platform – CUDA</a:t>
            </a:r>
          </a:p>
          <a:p>
            <a:pPr>
              <a:lnSpc>
                <a:spcPct val="150000"/>
              </a:lnSpc>
            </a:pPr>
            <a:r>
              <a:rPr lang="en-IN" dirty="0">
                <a:latin typeface="Times New Roman" panose="02020603050405020304" pitchFamily="18" charset="0"/>
                <a:cs typeface="Times New Roman" panose="02020603050405020304" pitchFamily="18" charset="0"/>
              </a:rPr>
              <a:t>5.Structure-from-Motion Tool – COLMAP</a:t>
            </a:r>
          </a:p>
          <a:p>
            <a:pPr>
              <a:lnSpc>
                <a:spcPct val="150000"/>
              </a:lnSpc>
            </a:pPr>
            <a:r>
              <a:rPr lang="en-IN" dirty="0">
                <a:latin typeface="Times New Roman" panose="02020603050405020304" pitchFamily="18" charset="0"/>
                <a:cs typeface="Times New Roman" panose="02020603050405020304" pitchFamily="18" charset="0"/>
              </a:rPr>
              <a:t>6.NeRF Frameworks</a:t>
            </a:r>
          </a:p>
          <a:p>
            <a:pPr>
              <a:lnSpc>
                <a:spcPct val="150000"/>
              </a:lnSpc>
            </a:pPr>
            <a:r>
              <a:rPr lang="en-IN" dirty="0">
                <a:latin typeface="Times New Roman" panose="02020603050405020304" pitchFamily="18" charset="0"/>
                <a:cs typeface="Times New Roman" panose="02020603050405020304" pitchFamily="18" charset="0"/>
              </a:rPr>
              <a:t>7.Gaussian Splatting libraries- </a:t>
            </a:r>
            <a:r>
              <a:rPr lang="en-IN" dirty="0" err="1">
                <a:latin typeface="Times New Roman" panose="02020603050405020304" pitchFamily="18" charset="0"/>
                <a:cs typeface="Times New Roman" panose="02020603050405020304" pitchFamily="18" charset="0"/>
              </a:rPr>
              <a:t>graphdeco-inria</a:t>
            </a:r>
            <a:r>
              <a:rPr lang="en-IN" dirty="0">
                <a:latin typeface="Times New Roman" panose="02020603050405020304" pitchFamily="18" charset="0"/>
                <a:cs typeface="Times New Roman" panose="02020603050405020304" pitchFamily="18" charset="0"/>
              </a:rPr>
              <a:t>/diff-</a:t>
            </a:r>
            <a:r>
              <a:rPr lang="en-IN" dirty="0" err="1">
                <a:latin typeface="Times New Roman" panose="02020603050405020304" pitchFamily="18" charset="0"/>
                <a:cs typeface="Times New Roman" panose="02020603050405020304" pitchFamily="18" charset="0"/>
              </a:rPr>
              <a:t>gaussain</a:t>
            </a:r>
            <a:r>
              <a:rPr lang="en-IN" dirty="0">
                <a:latin typeface="Times New Roman" panose="02020603050405020304" pitchFamily="18" charset="0"/>
                <a:cs typeface="Times New Roman" panose="02020603050405020304" pitchFamily="18" charset="0"/>
              </a:rPr>
              <a:t>-rasterization</a:t>
            </a:r>
          </a:p>
          <a:p>
            <a:pPr>
              <a:lnSpc>
                <a:spcPct val="150000"/>
              </a:lnSpc>
            </a:pPr>
            <a:r>
              <a:rPr lang="en-IN" dirty="0">
                <a:latin typeface="Times New Roman" panose="02020603050405020304" pitchFamily="18" charset="0"/>
                <a:cs typeface="Times New Roman" panose="02020603050405020304" pitchFamily="18" charset="0"/>
              </a:rPr>
              <a:t>8.Visualization and rendering tools</a:t>
            </a:r>
          </a:p>
        </p:txBody>
      </p:sp>
    </p:spTree>
    <p:extLst>
      <p:ext uri="{BB962C8B-B14F-4D97-AF65-F5344CB8AC3E}">
        <p14:creationId xmlns:p14="http://schemas.microsoft.com/office/powerpoint/2010/main" val="2942684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D521D9-1A03-3FB4-3408-D4848BC95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4325" y="1041861"/>
            <a:ext cx="7522798" cy="5349527"/>
          </a:xfrm>
          <a:prstGeom prst="rect">
            <a:avLst/>
          </a:prstGeom>
        </p:spPr>
      </p:pic>
      <p:sp>
        <p:nvSpPr>
          <p:cNvPr id="2" name="TextBox 1">
            <a:extLst>
              <a:ext uri="{FF2B5EF4-FFF2-40B4-BE49-F238E27FC236}">
                <a16:creationId xmlns:a16="http://schemas.microsoft.com/office/drawing/2014/main" id="{00F7ABBD-C548-9016-9326-BB29B4C5E044}"/>
              </a:ext>
            </a:extLst>
          </p:cNvPr>
          <p:cNvSpPr txBox="1"/>
          <p:nvPr/>
        </p:nvSpPr>
        <p:spPr>
          <a:xfrm>
            <a:off x="2024325" y="466612"/>
            <a:ext cx="6725265" cy="584775"/>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SYSTEM ARCHITECTURE</a:t>
            </a:r>
            <a:endParaRPr lang="en-IN" sz="32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0132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AB8CE-8819-9139-AFEC-E3F6D32C37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5F8BB8-4103-D48C-F31B-E86481A5C806}"/>
              </a:ext>
            </a:extLst>
          </p:cNvPr>
          <p:cNvSpPr txBox="1"/>
          <p:nvPr/>
        </p:nvSpPr>
        <p:spPr>
          <a:xfrm>
            <a:off x="2024325" y="466612"/>
            <a:ext cx="6725265" cy="1061829"/>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DATAFLOW DIAGRAM</a:t>
            </a:r>
          </a:p>
          <a:p>
            <a:endParaRPr lang="en-US" sz="1100" b="1" u="sng"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Level-0</a:t>
            </a:r>
            <a:endParaRPr lang="en-IN" sz="3200" b="1"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9DE1B33-E507-3998-1EB4-CEEBC55370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0245" y="1612455"/>
            <a:ext cx="6931741" cy="4778933"/>
          </a:xfrm>
          <a:prstGeom prst="rect">
            <a:avLst/>
          </a:prstGeom>
        </p:spPr>
      </p:pic>
    </p:spTree>
    <p:extLst>
      <p:ext uri="{BB962C8B-B14F-4D97-AF65-F5344CB8AC3E}">
        <p14:creationId xmlns:p14="http://schemas.microsoft.com/office/powerpoint/2010/main" val="2224447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F73EF-2B2D-4D95-EE14-CB7780131D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CF6875-DF13-1853-CCA0-B9F9C09EF16D}"/>
              </a:ext>
            </a:extLst>
          </p:cNvPr>
          <p:cNvSpPr txBox="1"/>
          <p:nvPr/>
        </p:nvSpPr>
        <p:spPr>
          <a:xfrm>
            <a:off x="2024325" y="466612"/>
            <a:ext cx="6725265" cy="1200329"/>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DATAFLOW DIAGRAM</a:t>
            </a:r>
            <a:br>
              <a:rPr lang="en-US" sz="1100" b="1" u="sng"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a:t>
            </a:r>
            <a:endParaRPr lang="en-US" sz="1100" b="1"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Level-1</a:t>
            </a:r>
            <a:endParaRPr lang="en-IN" sz="32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6784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7878E-8C64-EDE4-89B2-CD4DB6DE6E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22F9C5-2749-CB06-1072-5C29CBDA13A4}"/>
              </a:ext>
            </a:extLst>
          </p:cNvPr>
          <p:cNvSpPr txBox="1"/>
          <p:nvPr/>
        </p:nvSpPr>
        <p:spPr>
          <a:xfrm>
            <a:off x="2024325" y="466612"/>
            <a:ext cx="6725265" cy="584775"/>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USECASE DIAGRAM</a:t>
            </a:r>
            <a:endParaRPr lang="en-US" sz="11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B3927FF-4B3B-25E5-5575-B3FAD091F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3733" y="1334940"/>
            <a:ext cx="6725264" cy="5056448"/>
          </a:xfrm>
          <a:prstGeom prst="rect">
            <a:avLst/>
          </a:prstGeom>
        </p:spPr>
      </p:pic>
    </p:spTree>
    <p:extLst>
      <p:ext uri="{BB962C8B-B14F-4D97-AF65-F5344CB8AC3E}">
        <p14:creationId xmlns:p14="http://schemas.microsoft.com/office/powerpoint/2010/main" val="1326900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463E90-7F0F-F4DE-86B0-75FC6D647F61}"/>
              </a:ext>
            </a:extLst>
          </p:cNvPr>
          <p:cNvSpPr txBox="1"/>
          <p:nvPr/>
        </p:nvSpPr>
        <p:spPr>
          <a:xfrm>
            <a:off x="1719072" y="580263"/>
            <a:ext cx="9656064" cy="769441"/>
          </a:xfrm>
          <a:prstGeom prst="rect">
            <a:avLst/>
          </a:prstGeom>
          <a:noFill/>
        </p:spPr>
        <p:txBody>
          <a:bodyPr wrap="square" rtlCol="0">
            <a:spAutoFit/>
          </a:bodyPr>
          <a:lstStyle/>
          <a:p>
            <a:r>
              <a:rPr lang="en-US" sz="4400" b="1" u="sng" dirty="0"/>
              <a:t>OUTLINE</a:t>
            </a:r>
            <a:endParaRPr lang="en-IN" sz="4400" b="1" u="sng" dirty="0"/>
          </a:p>
        </p:txBody>
      </p:sp>
      <p:sp>
        <p:nvSpPr>
          <p:cNvPr id="3" name="TextBox 2">
            <a:extLst>
              <a:ext uri="{FF2B5EF4-FFF2-40B4-BE49-F238E27FC236}">
                <a16:creationId xmlns:a16="http://schemas.microsoft.com/office/drawing/2014/main" id="{2DBA95FB-704E-15E4-C47D-1691AF35CF65}"/>
              </a:ext>
            </a:extLst>
          </p:cNvPr>
          <p:cNvSpPr txBox="1"/>
          <p:nvPr/>
        </p:nvSpPr>
        <p:spPr>
          <a:xfrm>
            <a:off x="1435608" y="1645920"/>
            <a:ext cx="8522208" cy="6463308"/>
          </a:xfrm>
          <a:prstGeom prst="rect">
            <a:avLst/>
          </a:prstGeom>
          <a:noFill/>
        </p:spPr>
        <p:txBody>
          <a:bodyPr wrap="square" rtlCol="0">
            <a:spAutoFit/>
          </a:bodyPr>
          <a:lstStyle/>
          <a:p>
            <a:pPr marL="285750" indent="-285750">
              <a:buFont typeface="Arial" panose="020B0604020202020204" pitchFamily="34" charset="0"/>
              <a:buChar char="•"/>
            </a:pPr>
            <a:r>
              <a:rPr lang="en-US" sz="2400" b="1" dirty="0">
                <a:latin typeface="Aptos" panose="020B0004020202020204" pitchFamily="34" charset="0"/>
              </a:rPr>
              <a:t>Core Subject:</a:t>
            </a:r>
            <a:r>
              <a:rPr lang="en-US" sz="2400" dirty="0">
                <a:latin typeface="Aptos" panose="020B0004020202020204" pitchFamily="34" charset="0"/>
              </a:rPr>
              <a:t> Introduces </a:t>
            </a:r>
            <a:r>
              <a:rPr lang="en-US" sz="2400" b="1" dirty="0">
                <a:latin typeface="Aptos" panose="020B0004020202020204" pitchFamily="34" charset="0"/>
              </a:rPr>
              <a:t>GAUSFER 3D</a:t>
            </a:r>
            <a:r>
              <a:rPr lang="en-US" sz="2400" dirty="0">
                <a:latin typeface="Aptos" panose="020B0004020202020204" pitchFamily="34" charset="0"/>
              </a:rPr>
              <a:t>, a new pipeline for creating high-fidelity 3D scenes from standard 2D photographs</a:t>
            </a:r>
            <a:r>
              <a:rPr lang="en-US" sz="2400" dirty="0"/>
              <a:t>.</a:t>
            </a:r>
          </a:p>
          <a:p>
            <a:pPr marL="285750" indent="-285750">
              <a:buFont typeface="Arial" panose="020B0604020202020204" pitchFamily="34" charset="0"/>
              <a:buChar char="•"/>
            </a:pPr>
            <a:endParaRPr lang="en-US" sz="2400" dirty="0">
              <a:latin typeface="Aptos" panose="020B0004020202020204" pitchFamily="34" charset="0"/>
            </a:endParaRPr>
          </a:p>
          <a:p>
            <a:pPr marL="285750" indent="-285750">
              <a:buFont typeface="Arial" panose="020B0604020202020204" pitchFamily="34" charset="0"/>
              <a:buChar char="•"/>
            </a:pPr>
            <a:r>
              <a:rPr lang="en-US" sz="2400" b="1" dirty="0">
                <a:latin typeface="Aptos" panose="020B0004020202020204" pitchFamily="34" charset="0"/>
              </a:rPr>
              <a:t>The Hybrid Approach:</a:t>
            </a:r>
            <a:r>
              <a:rPr lang="en-US" sz="2400" dirty="0">
                <a:latin typeface="Aptos" panose="020B0004020202020204" pitchFamily="34" charset="0"/>
              </a:rPr>
              <a:t> Bridges the gap between two major technologies: Neural Radiance Fields (</a:t>
            </a:r>
            <a:r>
              <a:rPr lang="en-US" sz="2400" dirty="0" err="1">
                <a:latin typeface="Aptos" panose="020B0004020202020204" pitchFamily="34" charset="0"/>
              </a:rPr>
              <a:t>NeRF</a:t>
            </a:r>
            <a:r>
              <a:rPr lang="en-US" sz="2400" dirty="0">
                <a:latin typeface="Aptos" panose="020B0004020202020204" pitchFamily="34" charset="0"/>
              </a:rPr>
              <a:t>) and 3D Gaussian Splatting (3DGS).</a:t>
            </a:r>
          </a:p>
          <a:p>
            <a:pPr marL="285750" indent="-285750">
              <a:buFont typeface="Arial" panose="020B0604020202020204" pitchFamily="34" charset="0"/>
              <a:buChar char="•"/>
            </a:pPr>
            <a:endParaRPr lang="en-US" sz="2400" dirty="0">
              <a:latin typeface="Aptos" panose="020B0004020202020204" pitchFamily="34" charset="0"/>
            </a:endParaRPr>
          </a:p>
          <a:p>
            <a:pPr marL="285750" indent="-285750">
              <a:buFont typeface="Arial" panose="020B0604020202020204" pitchFamily="34" charset="0"/>
              <a:buChar char="•"/>
            </a:pPr>
            <a:r>
              <a:rPr lang="en-US" sz="2400" b="1" dirty="0">
                <a:latin typeface="Aptos" panose="020B0004020202020204" pitchFamily="34" charset="0"/>
              </a:rPr>
              <a:t>Problem Solving :</a:t>
            </a:r>
            <a:r>
              <a:rPr lang="en-US" sz="2400" dirty="0">
                <a:latin typeface="Aptos" panose="020B0004020202020204" pitchFamily="34" charset="0"/>
              </a:rPr>
              <a:t> Combines </a:t>
            </a:r>
            <a:r>
              <a:rPr lang="en-US" sz="2400" dirty="0" err="1">
                <a:latin typeface="Aptos" panose="020B0004020202020204" pitchFamily="34" charset="0"/>
              </a:rPr>
              <a:t>NeRF’s</a:t>
            </a:r>
            <a:r>
              <a:rPr lang="en-US" sz="2400" dirty="0">
                <a:latin typeface="Aptos" panose="020B0004020202020204" pitchFamily="34" charset="0"/>
              </a:rPr>
              <a:t> superior volumetric consistency with 3DGS’s real-time rendering speed, specifically solving 3DGS's usual struggle with dense initialization.</a:t>
            </a:r>
          </a:p>
          <a:p>
            <a:pPr marL="285750" indent="-285750">
              <a:buFont typeface="Arial" panose="020B0604020202020204" pitchFamily="34" charset="0"/>
              <a:buChar char="•"/>
            </a:pPr>
            <a:endParaRPr lang="en-US" dirty="0">
              <a:latin typeface="Aptos" panose="020B0004020202020204" pitchFamily="34" charset="0"/>
            </a:endParaRPr>
          </a:p>
          <a:p>
            <a:pPr marL="285750" indent="-285750">
              <a:buFont typeface="Arial" panose="020B0604020202020204" pitchFamily="34" charset="0"/>
              <a:buChar char="•"/>
            </a:pPr>
            <a:endParaRPr lang="en-US" dirty="0">
              <a:latin typeface="Aptos" panose="020B0004020202020204" pitchFamily="34" charset="0"/>
            </a:endParaRPr>
          </a:p>
          <a:p>
            <a:pPr marL="285750" indent="-285750">
              <a:buFont typeface="Arial" panose="020B0604020202020204" pitchFamily="34" charset="0"/>
              <a:buChar char="•"/>
            </a:pPr>
            <a:endParaRPr lang="en-US" dirty="0">
              <a:latin typeface="Aptos" panose="020B0004020202020204" pitchFamily="34" charset="0"/>
            </a:endParaRPr>
          </a:p>
          <a:p>
            <a:pPr marL="285750" indent="-285750">
              <a:buFont typeface="Arial" panose="020B0604020202020204" pitchFamily="34" charset="0"/>
              <a:buChar char="•"/>
            </a:pPr>
            <a:endParaRPr lang="en-US" dirty="0"/>
          </a:p>
          <a:p>
            <a:endParaRPr lang="en-US" dirty="0"/>
          </a:p>
          <a:p>
            <a:br>
              <a:rPr lang="en-US" dirty="0"/>
            </a:br>
            <a:endParaRPr lang="en-IN" dirty="0"/>
          </a:p>
        </p:txBody>
      </p:sp>
    </p:spTree>
    <p:extLst>
      <p:ext uri="{BB962C8B-B14F-4D97-AF65-F5344CB8AC3E}">
        <p14:creationId xmlns:p14="http://schemas.microsoft.com/office/powerpoint/2010/main" val="1703688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78AD63-11D3-5ED4-AAA1-48A6EC96C44B}"/>
              </a:ext>
            </a:extLst>
          </p:cNvPr>
          <p:cNvSpPr txBox="1"/>
          <p:nvPr/>
        </p:nvSpPr>
        <p:spPr>
          <a:xfrm>
            <a:off x="1645920" y="566928"/>
            <a:ext cx="9875520" cy="646331"/>
          </a:xfrm>
          <a:prstGeom prst="rect">
            <a:avLst/>
          </a:prstGeom>
          <a:noFill/>
        </p:spPr>
        <p:txBody>
          <a:bodyPr wrap="square" rtlCol="0">
            <a:spAutoFit/>
          </a:bodyPr>
          <a:lstStyle/>
          <a:p>
            <a:r>
              <a:rPr lang="en-US" sz="3600" b="1" u="sng" dirty="0">
                <a:latin typeface="Aptos" panose="020B0004020202020204" pitchFamily="34" charset="0"/>
              </a:rPr>
              <a:t>DATA ACQUISITION AND POSE ESTIMATION</a:t>
            </a:r>
            <a:endParaRPr lang="en-IN" sz="3600" b="1" u="sng" dirty="0">
              <a:latin typeface="Aptos" panose="020B0004020202020204" pitchFamily="34" charset="0"/>
            </a:endParaRPr>
          </a:p>
        </p:txBody>
      </p:sp>
      <p:sp>
        <p:nvSpPr>
          <p:cNvPr id="4" name="TextBox 3">
            <a:extLst>
              <a:ext uri="{FF2B5EF4-FFF2-40B4-BE49-F238E27FC236}">
                <a16:creationId xmlns:a16="http://schemas.microsoft.com/office/drawing/2014/main" id="{B8BE2FE0-6C98-0C28-903E-AAA8B429DB6D}"/>
              </a:ext>
            </a:extLst>
          </p:cNvPr>
          <p:cNvSpPr txBox="1"/>
          <p:nvPr/>
        </p:nvSpPr>
        <p:spPr>
          <a:xfrm>
            <a:off x="1645920" y="1426465"/>
            <a:ext cx="10131552" cy="3170099"/>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Aptos" panose="020B0004020202020204" pitchFamily="34" charset="0"/>
              </a:rPr>
              <a:t>The first step in the pipeline is the use of an automated setup to acquire high-quality images from a wide range of viewpoints.</a:t>
            </a:r>
          </a:p>
          <a:p>
            <a:pPr marL="342900" indent="-342900">
              <a:buFont typeface="Arial" panose="020B0604020202020204" pitchFamily="34" charset="0"/>
              <a:buChar char="•"/>
            </a:pPr>
            <a:endParaRPr lang="en-US" sz="2000" dirty="0">
              <a:latin typeface="Aptos" panose="020B0004020202020204" pitchFamily="34" charset="0"/>
            </a:endParaRPr>
          </a:p>
          <a:p>
            <a:pPr marL="342900" indent="-342900">
              <a:buFont typeface="Arial" panose="020B0604020202020204" pitchFamily="34" charset="0"/>
              <a:buChar char="•"/>
            </a:pPr>
            <a:r>
              <a:rPr lang="en-US" sz="2000" b="1" dirty="0">
                <a:latin typeface="Aptos" panose="020B0004020202020204" pitchFamily="34" charset="0"/>
              </a:rPr>
              <a:t>Automated Frame Extraction</a:t>
            </a:r>
            <a:r>
              <a:rPr lang="en-US" sz="2000" dirty="0">
                <a:latin typeface="Aptos" panose="020B0004020202020204" pitchFamily="34" charset="0"/>
              </a:rPr>
              <a:t>: A temporal sampling method is employed. To guarantee Structure-from-Motion (</a:t>
            </a:r>
            <a:r>
              <a:rPr lang="en-US" sz="2000" dirty="0" err="1">
                <a:latin typeface="Aptos" panose="020B0004020202020204" pitchFamily="34" charset="0"/>
              </a:rPr>
              <a:t>SfM</a:t>
            </a:r>
            <a:r>
              <a:rPr lang="en-US" sz="2000" dirty="0">
                <a:latin typeface="Aptos" panose="020B0004020202020204" pitchFamily="34" charset="0"/>
              </a:rPr>
              <a:t>) convergence, frames are filtered using the Laplacian variance. The following is ensured: </a:t>
            </a:r>
            <a:r>
              <a:rPr lang="el-GR" sz="2000" dirty="0">
                <a:latin typeface="Aptos" panose="020B0004020202020204" pitchFamily="34" charset="0"/>
              </a:rPr>
              <a:t>σ</a:t>
            </a:r>
            <a:r>
              <a:rPr lang="en-US" sz="2000" baseline="30000" dirty="0">
                <a:latin typeface="Aptos" panose="020B0004020202020204" pitchFamily="34" charset="0"/>
              </a:rPr>
              <a:t>2 </a:t>
            </a:r>
            <a:r>
              <a:rPr lang="en-US" sz="2000" dirty="0">
                <a:latin typeface="Aptos" panose="020B0004020202020204" pitchFamily="34" charset="0"/>
              </a:rPr>
              <a:t>Laplacian &gt; 100.0</a:t>
            </a:r>
          </a:p>
          <a:p>
            <a:pPr marL="342900" indent="-342900">
              <a:buFont typeface="Arial" panose="020B0604020202020204" pitchFamily="34" charset="0"/>
              <a:buChar char="•"/>
            </a:pPr>
            <a:endParaRPr lang="en-US" sz="2000" dirty="0">
              <a:latin typeface="Aptos" panose="020B0004020202020204" pitchFamily="34" charset="0"/>
            </a:endParaRPr>
          </a:p>
          <a:p>
            <a:pPr marL="342900" indent="-342900">
              <a:buFont typeface="Arial" panose="020B0604020202020204" pitchFamily="34" charset="0"/>
              <a:buChar char="•"/>
            </a:pPr>
            <a:r>
              <a:rPr lang="en-US" sz="2000" b="1" dirty="0">
                <a:latin typeface="Aptos" panose="020B0004020202020204" pitchFamily="34" charset="0"/>
              </a:rPr>
              <a:t>Pose Estimation</a:t>
            </a:r>
            <a:r>
              <a:rPr lang="en-US" sz="2000" dirty="0">
                <a:latin typeface="Aptos" panose="020B0004020202020204" pitchFamily="34" charset="0"/>
              </a:rPr>
              <a:t>: The camera parameters, which include both intrinsic and extrinsic properties, are obtained using a CUDA-accelerated COLMAP wrapper. The loader transforms COLMAP quaternions q into rotation matrices R, which are 3x3 matrices.</a:t>
            </a:r>
            <a:endParaRPr lang="en-IN" sz="2000" dirty="0">
              <a:latin typeface="Aptos" panose="020B0004020202020204" pitchFamily="34" charset="0"/>
            </a:endParaRPr>
          </a:p>
        </p:txBody>
      </p:sp>
    </p:spTree>
    <p:extLst>
      <p:ext uri="{BB962C8B-B14F-4D97-AF65-F5344CB8AC3E}">
        <p14:creationId xmlns:p14="http://schemas.microsoft.com/office/powerpoint/2010/main" val="1698817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C16BBC-57D4-FA67-0565-E7F66AC92BB1}"/>
              </a:ext>
            </a:extLst>
          </p:cNvPr>
          <p:cNvSpPr txBox="1"/>
          <p:nvPr/>
        </p:nvSpPr>
        <p:spPr>
          <a:xfrm>
            <a:off x="1755648" y="320040"/>
            <a:ext cx="9235440" cy="646331"/>
          </a:xfrm>
          <a:prstGeom prst="rect">
            <a:avLst/>
          </a:prstGeom>
          <a:noFill/>
        </p:spPr>
        <p:txBody>
          <a:bodyPr wrap="square" rtlCol="0">
            <a:spAutoFit/>
          </a:bodyPr>
          <a:lstStyle/>
          <a:p>
            <a:r>
              <a:rPr lang="en-US" sz="3600" b="1" u="sng" dirty="0">
                <a:latin typeface="Aptos" panose="020B0004020202020204" pitchFamily="34" charset="0"/>
              </a:rPr>
              <a:t>HYBRID OPTIMIZATION METHODOLGY</a:t>
            </a:r>
          </a:p>
        </p:txBody>
      </p:sp>
      <p:sp>
        <p:nvSpPr>
          <p:cNvPr id="4" name="TextBox 3">
            <a:extLst>
              <a:ext uri="{FF2B5EF4-FFF2-40B4-BE49-F238E27FC236}">
                <a16:creationId xmlns:a16="http://schemas.microsoft.com/office/drawing/2014/main" id="{914A8A53-9F75-5E26-BCF9-1657474F2140}"/>
              </a:ext>
            </a:extLst>
          </p:cNvPr>
          <p:cNvSpPr txBox="1"/>
          <p:nvPr/>
        </p:nvSpPr>
        <p:spPr>
          <a:xfrm>
            <a:off x="1755648" y="1377851"/>
            <a:ext cx="9893808" cy="4062651"/>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Aptos" panose="020B0004020202020204" pitchFamily="34" charset="0"/>
              </a:rPr>
              <a:t>A. Volumetric neural scaffolding</a:t>
            </a:r>
          </a:p>
          <a:p>
            <a:pPr marL="285750" indent="-285750">
              <a:buFont typeface="Arial" panose="020B0604020202020204" pitchFamily="34" charset="0"/>
              <a:buChar char="•"/>
            </a:pPr>
            <a:r>
              <a:rPr lang="en-US" sz="2000" dirty="0">
                <a:latin typeface="Aptos" panose="020B0004020202020204" pitchFamily="34" charset="0"/>
              </a:rPr>
              <a:t>first warm up a 5-layer multi-layer perceptron (MLP) </a:t>
            </a:r>
            <a:r>
              <a:rPr lang="en-US" sz="2000" dirty="0" err="1">
                <a:latin typeface="Aptos" panose="020B0004020202020204" pitchFamily="34" charset="0"/>
              </a:rPr>
              <a:t>NeRF</a:t>
            </a:r>
            <a:r>
              <a:rPr lang="en-US" sz="2000" dirty="0">
                <a:latin typeface="Aptos" panose="020B0004020202020204" pitchFamily="34" charset="0"/>
              </a:rPr>
              <a:t> with 10 epochs of training. In this case, take 3D coordinates x, map them to a higher-dimensional embedding space via positional encoding to capture high-frequency detail. To manage GPU memory cap, cast and render rays in batches of 4096.</a:t>
            </a:r>
          </a:p>
          <a:p>
            <a:pPr marL="285750" indent="-285750">
              <a:buFont typeface="Arial" panose="020B0604020202020204" pitchFamily="34" charset="0"/>
              <a:buChar char="•"/>
            </a:pPr>
            <a:endParaRPr lang="en-US" sz="2000" dirty="0">
              <a:latin typeface="Aptos" panose="020B0004020202020204" pitchFamily="34" charset="0"/>
            </a:endParaRPr>
          </a:p>
          <a:p>
            <a:pPr marL="285750" indent="-285750">
              <a:buFont typeface="Arial" panose="020B0604020202020204" pitchFamily="34" charset="0"/>
              <a:buChar char="•"/>
            </a:pPr>
            <a:r>
              <a:rPr lang="en-US" sz="2000" b="1" dirty="0">
                <a:latin typeface="Aptos" panose="020B0004020202020204" pitchFamily="34" charset="0"/>
              </a:rPr>
              <a:t>B. </a:t>
            </a:r>
            <a:r>
              <a:rPr lang="en-US" sz="2000" b="1" dirty="0" err="1">
                <a:latin typeface="Aptos" panose="020B0004020202020204" pitchFamily="34" charset="0"/>
              </a:rPr>
              <a:t>NeRF</a:t>
            </a:r>
            <a:r>
              <a:rPr lang="en-US" sz="2000" b="1" dirty="0">
                <a:latin typeface="Aptos" panose="020B0004020202020204" pitchFamily="34" charset="0"/>
              </a:rPr>
              <a:t> to Gaussian bridge</a:t>
            </a:r>
          </a:p>
          <a:p>
            <a:pPr marL="285750" indent="-285750">
              <a:buFont typeface="Arial" panose="020B0604020202020204" pitchFamily="34" charset="0"/>
              <a:buChar char="•"/>
            </a:pPr>
            <a:r>
              <a:rPr lang="en-US" sz="2000" dirty="0">
                <a:latin typeface="Aptos" panose="020B0004020202020204" pitchFamily="34" charset="0"/>
              </a:rPr>
              <a:t>Once a </a:t>
            </a:r>
            <a:r>
              <a:rPr lang="en-US" sz="2000" dirty="0" err="1">
                <a:latin typeface="Aptos" panose="020B0004020202020204" pitchFamily="34" charset="0"/>
              </a:rPr>
              <a:t>NeRF</a:t>
            </a:r>
            <a:r>
              <a:rPr lang="en-US" sz="2000" dirty="0">
                <a:latin typeface="Aptos" panose="020B0004020202020204" pitchFamily="34" charset="0"/>
              </a:rPr>
              <a:t> has learned a baseline understanding of the geometry of the room it’s in, perform a </a:t>
            </a:r>
            <a:r>
              <a:rPr lang="en-US" sz="2000" dirty="0" err="1">
                <a:latin typeface="Aptos" panose="020B0004020202020204" pitchFamily="34" charset="0"/>
              </a:rPr>
              <a:t>NeRF</a:t>
            </a:r>
            <a:r>
              <a:rPr lang="en-US" sz="2000" dirty="0">
                <a:latin typeface="Aptos" panose="020B0004020202020204" pitchFamily="34" charset="0"/>
              </a:rPr>
              <a:t> to Gaussian Bridge sampling at uniform 256 voxels (3D) on a grid across the bounding box of the scene. Only locations of the </a:t>
            </a:r>
            <a:r>
              <a:rPr lang="en-US" sz="2000" dirty="0" err="1">
                <a:latin typeface="Aptos" panose="020B0004020202020204" pitchFamily="34" charset="0"/>
              </a:rPr>
              <a:t>NeRF</a:t>
            </a:r>
            <a:r>
              <a:rPr lang="en-US" sz="2000" dirty="0">
                <a:latin typeface="Aptos" panose="020B0004020202020204" pitchFamily="34" charset="0"/>
              </a:rPr>
              <a:t> at which the predicted solid density of the materials is high (σ &gt; 15.0) will be seeded with Gaussians.</a:t>
            </a:r>
          </a:p>
          <a:p>
            <a:pPr marL="285750" indent="-285750">
              <a:buFont typeface="Arial" panose="020B0604020202020204" pitchFamily="34" charset="0"/>
              <a:buChar char="•"/>
            </a:pPr>
            <a:endParaRPr lang="en-US" dirty="0">
              <a:latin typeface="Aptos" panose="020B0004020202020204" pitchFamily="34" charset="0"/>
            </a:endParaRPr>
          </a:p>
        </p:txBody>
      </p:sp>
    </p:spTree>
    <p:extLst>
      <p:ext uri="{BB962C8B-B14F-4D97-AF65-F5344CB8AC3E}">
        <p14:creationId xmlns:p14="http://schemas.microsoft.com/office/powerpoint/2010/main" val="3807517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83475C-1F52-BD4D-5A79-9697001F6468}"/>
              </a:ext>
            </a:extLst>
          </p:cNvPr>
          <p:cNvSpPr txBox="1"/>
          <p:nvPr/>
        </p:nvSpPr>
        <p:spPr>
          <a:xfrm>
            <a:off x="1682496" y="786384"/>
            <a:ext cx="9628632" cy="3139321"/>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Aptos" panose="020B0004020202020204" pitchFamily="34" charset="0"/>
              </a:rPr>
              <a:t>C. </a:t>
            </a:r>
            <a:r>
              <a:rPr lang="en-US" sz="2000" b="1" dirty="0" err="1">
                <a:latin typeface="Aptos" panose="020B0004020202020204" pitchFamily="34" charset="0"/>
              </a:rPr>
              <a:t>NeRF</a:t>
            </a:r>
            <a:r>
              <a:rPr lang="en-US" sz="2000" b="1" dirty="0">
                <a:latin typeface="Aptos" panose="020B0004020202020204" pitchFamily="34" charset="0"/>
              </a:rPr>
              <a:t> Guided densification and pruning</a:t>
            </a:r>
          </a:p>
          <a:p>
            <a:pPr marL="285750" indent="-285750">
              <a:buFont typeface="Arial" panose="020B0604020202020204" pitchFamily="34" charset="0"/>
              <a:buChar char="•"/>
            </a:pPr>
            <a:r>
              <a:rPr lang="en-US" sz="2000" dirty="0">
                <a:latin typeface="Aptos" panose="020B0004020202020204" pitchFamily="34" charset="0"/>
              </a:rPr>
              <a:t>Gaussians will then be refined during a 5,000 step optimization phase leveraging a novel topological co-optimization strategy called Guided Densification and Guided Pruning leveraging L 1 rasterization loss. Standard 3DGS splits primitives based on gradients (∇x) , then it introduces a </a:t>
            </a:r>
            <a:r>
              <a:rPr lang="en-US" sz="2000" dirty="0" err="1">
                <a:latin typeface="Aptos" panose="020B0004020202020204" pitchFamily="34" charset="0"/>
              </a:rPr>
              <a:t>NeRF</a:t>
            </a:r>
            <a:r>
              <a:rPr lang="en-US" sz="2000" dirty="0">
                <a:latin typeface="Aptos" panose="020B0004020202020204" pitchFamily="34" charset="0"/>
              </a:rPr>
              <a:t> template mask, where a Gaussian will only be densified when the gradient of that Gaussian is greater than </a:t>
            </a:r>
            <a:r>
              <a:rPr lang="en-US" sz="2000" dirty="0" err="1">
                <a:latin typeface="Aptos" panose="020B0004020202020204" pitchFamily="34" charset="0"/>
              </a:rPr>
              <a:t>τ.grad</a:t>
            </a:r>
            <a:r>
              <a:rPr lang="en-US" sz="2000" dirty="0">
                <a:latin typeface="Aptos" panose="020B0004020202020204" pitchFamily="34" charset="0"/>
              </a:rPr>
              <a:t> = 0.0002 AND the </a:t>
            </a:r>
            <a:r>
              <a:rPr lang="en-US" sz="2000" dirty="0" err="1">
                <a:latin typeface="Aptos" panose="020B0004020202020204" pitchFamily="34" charset="0"/>
              </a:rPr>
              <a:t>NeRF</a:t>
            </a:r>
            <a:r>
              <a:rPr lang="en-US" sz="2000" dirty="0">
                <a:latin typeface="Aptos" panose="020B0004020202020204" pitchFamily="34" charset="0"/>
              </a:rPr>
              <a:t> has confirmed the presence of solid matter at that location (</a:t>
            </a:r>
            <a:r>
              <a:rPr lang="en-US" sz="2000" dirty="0" err="1">
                <a:latin typeface="Aptos" panose="020B0004020202020204" pitchFamily="34" charset="0"/>
              </a:rPr>
              <a:t>σneRF</a:t>
            </a:r>
            <a:r>
              <a:rPr lang="en-US" sz="2000" dirty="0">
                <a:latin typeface="Aptos" panose="020B0004020202020204" pitchFamily="34" charset="0"/>
              </a:rPr>
              <a:t> &gt; 5.0). To eliminate artifacts , aggressively prune primitives when they are transparent (α &lt; 0.05) or in geographic regions without certainty confirmed by the </a:t>
            </a:r>
            <a:r>
              <a:rPr lang="en-US" sz="2000" dirty="0" err="1">
                <a:latin typeface="Aptos" panose="020B0004020202020204" pitchFamily="34" charset="0"/>
              </a:rPr>
              <a:t>NeRF</a:t>
            </a:r>
            <a:endParaRPr lang="en-IN" sz="2000" dirty="0">
              <a:latin typeface="Aptos" panose="020B0004020202020204" pitchFamily="34" charset="0"/>
            </a:endParaRPr>
          </a:p>
          <a:p>
            <a:endParaRPr lang="en-IN" dirty="0"/>
          </a:p>
        </p:txBody>
      </p:sp>
    </p:spTree>
    <p:extLst>
      <p:ext uri="{BB962C8B-B14F-4D97-AF65-F5344CB8AC3E}">
        <p14:creationId xmlns:p14="http://schemas.microsoft.com/office/powerpoint/2010/main" val="2455475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EF414B-7DC8-53C3-D98A-78F2A89A27BF}"/>
              </a:ext>
            </a:extLst>
          </p:cNvPr>
          <p:cNvSpPr txBox="1"/>
          <p:nvPr/>
        </p:nvSpPr>
        <p:spPr>
          <a:xfrm>
            <a:off x="1828800" y="283464"/>
            <a:ext cx="9674352" cy="646331"/>
          </a:xfrm>
          <a:prstGeom prst="rect">
            <a:avLst/>
          </a:prstGeom>
          <a:noFill/>
        </p:spPr>
        <p:txBody>
          <a:bodyPr wrap="square" rtlCol="0">
            <a:spAutoFit/>
          </a:bodyPr>
          <a:lstStyle/>
          <a:p>
            <a:r>
              <a:rPr lang="en-US" sz="3600" b="1" u="sng" dirty="0">
                <a:latin typeface="Aptos" panose="020B0004020202020204" pitchFamily="34" charset="0"/>
              </a:rPr>
              <a:t>IMPLEMENTATION</a:t>
            </a:r>
            <a:r>
              <a:rPr lang="en-IN" sz="3600" b="1" u="sng" dirty="0">
                <a:latin typeface="Aptos" panose="020B0004020202020204" pitchFamily="34" charset="0"/>
              </a:rPr>
              <a:t> DETAILS</a:t>
            </a:r>
            <a:endParaRPr lang="en-US" sz="3600" b="1" u="sng" dirty="0">
              <a:latin typeface="Aptos" panose="020B0004020202020204" pitchFamily="34" charset="0"/>
            </a:endParaRPr>
          </a:p>
        </p:txBody>
      </p:sp>
      <p:sp>
        <p:nvSpPr>
          <p:cNvPr id="4" name="TextBox 3">
            <a:extLst>
              <a:ext uri="{FF2B5EF4-FFF2-40B4-BE49-F238E27FC236}">
                <a16:creationId xmlns:a16="http://schemas.microsoft.com/office/drawing/2014/main" id="{3F8A2EAA-964E-034A-8561-7D79659F66C5}"/>
              </a:ext>
            </a:extLst>
          </p:cNvPr>
          <p:cNvSpPr txBox="1"/>
          <p:nvPr/>
        </p:nvSpPr>
        <p:spPr>
          <a:xfrm>
            <a:off x="1828800" y="1088136"/>
            <a:ext cx="10094976" cy="5324535"/>
          </a:xfrm>
          <a:prstGeom prst="rect">
            <a:avLst/>
          </a:prstGeom>
          <a:noFill/>
        </p:spPr>
        <p:txBody>
          <a:bodyPr wrap="square" rtlCol="0">
            <a:spAutoFit/>
          </a:bodyPr>
          <a:lstStyle/>
          <a:p>
            <a:pPr marL="457200" indent="-457200">
              <a:buFont typeface="+mj-lt"/>
              <a:buAutoNum type="arabicPeriod"/>
            </a:pPr>
            <a:r>
              <a:rPr lang="en-US" sz="2000" dirty="0">
                <a:latin typeface="Aptos" panose="020B0004020202020204" pitchFamily="34" charset="0"/>
              </a:rPr>
              <a:t>Stop tracking gradients: Temporarily disable gradient tracking to save memory during this check.</a:t>
            </a:r>
          </a:p>
          <a:p>
            <a:pPr marL="457200" indent="-457200">
              <a:buFont typeface="+mj-lt"/>
              <a:buAutoNum type="arabicPeriod"/>
            </a:pPr>
            <a:r>
              <a:rPr lang="en-US" sz="2000" dirty="0">
                <a:latin typeface="Aptos" panose="020B0004020202020204" pitchFamily="34" charset="0"/>
              </a:rPr>
              <a:t>Calculate gradients: Find the positional gradients for all the 3D Gaussians in the scene.    Find high-detail areas: Identify which Gaussians have a gradient that exceeds a specific threshold (meaning they are in areas that need more detail).</a:t>
            </a:r>
          </a:p>
          <a:p>
            <a:pPr marL="457200" indent="-457200">
              <a:buFont typeface="+mj-lt"/>
              <a:buAutoNum type="arabicPeriod"/>
            </a:pPr>
            <a:r>
              <a:rPr lang="en-US" sz="2000" dirty="0">
                <a:latin typeface="Aptos" panose="020B0004020202020204" pitchFamily="34" charset="0"/>
              </a:rPr>
              <a:t>Check for candidates: If there are any Gaussians that meet this high-gradient criteria, move forward with testing them.</a:t>
            </a:r>
          </a:p>
          <a:p>
            <a:pPr marL="457200" indent="-457200">
              <a:buFont typeface="+mj-lt"/>
              <a:buAutoNum type="arabicPeriod"/>
            </a:pPr>
            <a:r>
              <a:rPr lang="en-US" sz="2000" dirty="0">
                <a:latin typeface="Aptos" panose="020B0004020202020204" pitchFamily="34" charset="0"/>
              </a:rPr>
              <a:t>Get their locations: Extract the exact 3D coordinates of these specific high-gradient Gaussians.    </a:t>
            </a:r>
          </a:p>
          <a:p>
            <a:pPr marL="457200" indent="-457200">
              <a:buFont typeface="+mj-lt"/>
              <a:buAutoNum type="arabicPeriod"/>
            </a:pPr>
            <a:r>
              <a:rPr lang="en-US" sz="2000" dirty="0">
                <a:latin typeface="Aptos" panose="020B0004020202020204" pitchFamily="34" charset="0"/>
              </a:rPr>
              <a:t>Consult the </a:t>
            </a:r>
            <a:r>
              <a:rPr lang="en-US" sz="2000" dirty="0" err="1">
                <a:latin typeface="Aptos" panose="020B0004020202020204" pitchFamily="34" charset="0"/>
              </a:rPr>
              <a:t>NeRF</a:t>
            </a:r>
            <a:r>
              <a:rPr lang="en-US" sz="2000" dirty="0">
                <a:latin typeface="Aptos" panose="020B0004020202020204" pitchFamily="34" charset="0"/>
              </a:rPr>
              <a:t>: Ask the trained Neural Radiance Field (</a:t>
            </a:r>
            <a:r>
              <a:rPr lang="en-US" sz="2000" dirty="0" err="1">
                <a:latin typeface="Aptos" panose="020B0004020202020204" pitchFamily="34" charset="0"/>
              </a:rPr>
              <a:t>NeRF</a:t>
            </a:r>
            <a:r>
              <a:rPr lang="en-US" sz="2000" dirty="0">
                <a:latin typeface="Aptos" panose="020B0004020202020204" pitchFamily="34" charset="0"/>
              </a:rPr>
              <a:t>) to calculate the density of the space at those specific coordinates.    </a:t>
            </a:r>
          </a:p>
          <a:p>
            <a:pPr marL="457200" indent="-457200">
              <a:buFont typeface="+mj-lt"/>
              <a:buAutoNum type="arabicPeriod"/>
            </a:pPr>
            <a:r>
              <a:rPr lang="en-US" sz="2000" dirty="0">
                <a:latin typeface="Aptos" panose="020B0004020202020204" pitchFamily="34" charset="0"/>
              </a:rPr>
              <a:t>Verify solid matter: Check if the </a:t>
            </a:r>
            <a:r>
              <a:rPr lang="en-US" sz="2000" dirty="0" err="1">
                <a:latin typeface="Aptos" panose="020B0004020202020204" pitchFamily="34" charset="0"/>
              </a:rPr>
              <a:t>NeRF</a:t>
            </a:r>
            <a:r>
              <a:rPr lang="en-US" sz="2000" dirty="0">
                <a:latin typeface="Aptos" panose="020B0004020202020204" pitchFamily="34" charset="0"/>
              </a:rPr>
              <a:t> confirms that the density at those locations is high enough to be considered solid matter.    </a:t>
            </a:r>
          </a:p>
          <a:p>
            <a:pPr marL="457200" indent="-457200">
              <a:buFont typeface="+mj-lt"/>
              <a:buAutoNum type="arabicPeriod"/>
            </a:pPr>
            <a:r>
              <a:rPr lang="en-US" sz="2000" dirty="0">
                <a:latin typeface="Aptos" panose="020B0004020202020204" pitchFamily="34" charset="0"/>
              </a:rPr>
              <a:t>Check for valid spots: If the </a:t>
            </a:r>
            <a:r>
              <a:rPr lang="en-US" sz="2000" dirty="0" err="1">
                <a:latin typeface="Aptos" panose="020B0004020202020204" pitchFamily="34" charset="0"/>
              </a:rPr>
              <a:t>NeRF</a:t>
            </a:r>
            <a:r>
              <a:rPr lang="en-US" sz="2000" dirty="0">
                <a:latin typeface="Aptos" panose="020B0004020202020204" pitchFamily="34" charset="0"/>
              </a:rPr>
              <a:t> confirms that valid matter exists at those locations, proceed to the final steps.    </a:t>
            </a:r>
          </a:p>
          <a:p>
            <a:pPr marL="457200" indent="-457200">
              <a:buFont typeface="+mj-lt"/>
              <a:buAutoNum type="arabicPeriod"/>
            </a:pPr>
            <a:r>
              <a:rPr lang="en-US" sz="2000" dirty="0">
                <a:latin typeface="Aptos" panose="020B0004020202020204" pitchFamily="34" charset="0"/>
              </a:rPr>
              <a:t>Combine the requirements: Create a final, combined list of the Gaussians that passed both tests: they have a high gradient and the </a:t>
            </a:r>
            <a:r>
              <a:rPr lang="en-US" sz="2000" dirty="0" err="1">
                <a:latin typeface="Aptos" panose="020B0004020202020204" pitchFamily="34" charset="0"/>
              </a:rPr>
              <a:t>NeRF</a:t>
            </a:r>
            <a:r>
              <a:rPr lang="en-US" sz="2000" dirty="0">
                <a:latin typeface="Aptos" panose="020B0004020202020204" pitchFamily="34" charset="0"/>
              </a:rPr>
              <a:t> confirms they are in a solid area</a:t>
            </a:r>
            <a:endParaRPr lang="en-IN" sz="2000" dirty="0">
              <a:latin typeface="Aptos" panose="020B0004020202020204" pitchFamily="34" charset="0"/>
            </a:endParaRPr>
          </a:p>
        </p:txBody>
      </p:sp>
    </p:spTree>
    <p:extLst>
      <p:ext uri="{BB962C8B-B14F-4D97-AF65-F5344CB8AC3E}">
        <p14:creationId xmlns:p14="http://schemas.microsoft.com/office/powerpoint/2010/main" val="2007882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9E934-719C-8966-921C-80801ABB80CA}"/>
              </a:ext>
            </a:extLst>
          </p:cNvPr>
          <p:cNvSpPr txBox="1"/>
          <p:nvPr/>
        </p:nvSpPr>
        <p:spPr>
          <a:xfrm>
            <a:off x="1819656" y="402336"/>
            <a:ext cx="7772400" cy="646331"/>
          </a:xfrm>
          <a:prstGeom prst="rect">
            <a:avLst/>
          </a:prstGeom>
          <a:noFill/>
        </p:spPr>
        <p:txBody>
          <a:bodyPr wrap="square" rtlCol="0">
            <a:spAutoFit/>
          </a:bodyPr>
          <a:lstStyle/>
          <a:p>
            <a:r>
              <a:rPr lang="en-US" sz="3600" b="1" u="sng" dirty="0">
                <a:latin typeface="Aptos" panose="020B0004020202020204" pitchFamily="34" charset="0"/>
              </a:rPr>
              <a:t>RESULT &amp; DISCUSSION</a:t>
            </a:r>
            <a:endParaRPr lang="en-IN" sz="3600" b="1" u="sng" dirty="0">
              <a:latin typeface="Aptos" panose="020B0004020202020204" pitchFamily="34" charset="0"/>
            </a:endParaRPr>
          </a:p>
        </p:txBody>
      </p:sp>
      <p:sp>
        <p:nvSpPr>
          <p:cNvPr id="3" name="TextBox 2">
            <a:extLst>
              <a:ext uri="{FF2B5EF4-FFF2-40B4-BE49-F238E27FC236}">
                <a16:creationId xmlns:a16="http://schemas.microsoft.com/office/drawing/2014/main" id="{C41BA736-441A-C6AD-17BE-128B2AE3A384}"/>
              </a:ext>
            </a:extLst>
          </p:cNvPr>
          <p:cNvSpPr txBox="1"/>
          <p:nvPr/>
        </p:nvSpPr>
        <p:spPr>
          <a:xfrm>
            <a:off x="1764792" y="1048667"/>
            <a:ext cx="10076688" cy="5324535"/>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Aptos" panose="020B0004020202020204" pitchFamily="34" charset="0"/>
              </a:rPr>
              <a:t>Visual Fidelity</a:t>
            </a:r>
            <a:r>
              <a:rPr lang="en-US" sz="2000" dirty="0">
                <a:latin typeface="Aptos" panose="020B0004020202020204" pitchFamily="34" charset="0"/>
              </a:rPr>
              <a:t>:</a:t>
            </a:r>
          </a:p>
          <a:p>
            <a:pPr marL="285750" indent="-285750">
              <a:buFont typeface="Arial" panose="020B0604020202020204" pitchFamily="34" charset="0"/>
              <a:buChar char="•"/>
            </a:pPr>
            <a:r>
              <a:rPr lang="en-US" sz="2000" dirty="0">
                <a:latin typeface="Aptos" panose="020B0004020202020204" pitchFamily="34" charset="0"/>
              </a:rPr>
              <a:t> PSNR: 32.5 </a:t>
            </a:r>
            <a:r>
              <a:rPr lang="en-US" sz="2000" dirty="0" err="1">
                <a:latin typeface="Aptos" panose="020B0004020202020204" pitchFamily="34" charset="0"/>
              </a:rPr>
              <a:t>dB.</a:t>
            </a:r>
            <a:r>
              <a:rPr lang="en-US" sz="2000" dirty="0">
                <a:latin typeface="Aptos" panose="020B0004020202020204" pitchFamily="34" charset="0"/>
              </a:rPr>
              <a:t> This score indicates a high signal-to-noise ratio and image cleanliness.</a:t>
            </a:r>
          </a:p>
          <a:p>
            <a:pPr marL="285750" indent="-285750">
              <a:buFont typeface="Arial" panose="020B0604020202020204" pitchFamily="34" charset="0"/>
              <a:buChar char="•"/>
            </a:pPr>
            <a:r>
              <a:rPr lang="en-US" sz="2000" dirty="0">
                <a:latin typeface="Aptos" panose="020B0004020202020204" pitchFamily="34" charset="0"/>
              </a:rPr>
              <a:t> SSIM: 0.89. This score shows structural similarity to the ground truth.</a:t>
            </a:r>
          </a:p>
          <a:p>
            <a:pPr marL="285750" indent="-285750">
              <a:buFont typeface="Arial" panose="020B0604020202020204" pitchFamily="34" charset="0"/>
              <a:buChar char="•"/>
            </a:pPr>
            <a:r>
              <a:rPr lang="en-US" sz="2000" dirty="0">
                <a:latin typeface="Aptos" panose="020B0004020202020204" pitchFamily="34" charset="0"/>
              </a:rPr>
              <a:t> LPIPS: 0.18. This low score means the images look natural to the eye.</a:t>
            </a:r>
          </a:p>
          <a:p>
            <a:pPr marL="285750" indent="-285750">
              <a:buFont typeface="Arial" panose="020B0604020202020204" pitchFamily="34" charset="0"/>
              <a:buChar char="•"/>
            </a:pPr>
            <a:endParaRPr lang="en-US" sz="2000" dirty="0">
              <a:latin typeface="Aptos" panose="020B0004020202020204" pitchFamily="34" charset="0"/>
            </a:endParaRPr>
          </a:p>
          <a:p>
            <a:pPr marL="285750" indent="-285750">
              <a:buFont typeface="Arial" panose="020B0604020202020204" pitchFamily="34" charset="0"/>
              <a:buChar char="•"/>
            </a:pPr>
            <a:r>
              <a:rPr lang="en-US" sz="2000" b="1" dirty="0">
                <a:latin typeface="Aptos" panose="020B0004020202020204" pitchFamily="34" charset="0"/>
              </a:rPr>
              <a:t>Speed</a:t>
            </a:r>
            <a:r>
              <a:rPr lang="en-US" sz="2000" dirty="0">
                <a:latin typeface="Aptos" panose="020B0004020202020204" pitchFamily="34" charset="0"/>
              </a:rPr>
              <a:t>:</a:t>
            </a:r>
          </a:p>
          <a:p>
            <a:pPr marL="285750" indent="-285750">
              <a:buFont typeface="Arial" panose="020B0604020202020204" pitchFamily="34" charset="0"/>
              <a:buChar char="•"/>
            </a:pPr>
            <a:r>
              <a:rPr lang="en-US" sz="2000" dirty="0">
                <a:latin typeface="Aptos" panose="020B0004020202020204" pitchFamily="34" charset="0"/>
              </a:rPr>
              <a:t>Convergence: Only 5,000 steps. This is significantly faster than </a:t>
            </a:r>
            <a:r>
              <a:rPr lang="en-US" sz="2000" dirty="0" err="1">
                <a:latin typeface="Aptos" panose="020B0004020202020204" pitchFamily="34" charset="0"/>
              </a:rPr>
              <a:t>NeRF</a:t>
            </a:r>
            <a:r>
              <a:rPr lang="en-US" sz="2000" dirty="0">
                <a:latin typeface="Aptos" panose="020B0004020202020204" pitchFamily="34" charset="0"/>
              </a:rPr>
              <a:t>-only training.</a:t>
            </a:r>
          </a:p>
          <a:p>
            <a:endParaRPr lang="en-US" sz="2000" dirty="0">
              <a:latin typeface="Aptos" panose="020B0004020202020204" pitchFamily="34" charset="0"/>
            </a:endParaRPr>
          </a:p>
          <a:p>
            <a:pPr marL="285750" indent="-285750">
              <a:buFont typeface="Arial" panose="020B0604020202020204" pitchFamily="34" charset="0"/>
              <a:buChar char="•"/>
            </a:pPr>
            <a:r>
              <a:rPr lang="en-US" sz="2000" b="1" dirty="0">
                <a:latin typeface="Aptos" panose="020B0004020202020204" pitchFamily="34" charset="0"/>
              </a:rPr>
              <a:t>Hardware Accessibility</a:t>
            </a:r>
            <a:r>
              <a:rPr lang="en-US" sz="2000" dirty="0">
                <a:latin typeface="Aptos" panose="020B0004020202020204" pitchFamily="34" charset="0"/>
              </a:rPr>
              <a:t>:</a:t>
            </a:r>
          </a:p>
          <a:p>
            <a:pPr marL="285750" indent="-285750">
              <a:buFont typeface="Arial" panose="020B0604020202020204" pitchFamily="34" charset="0"/>
              <a:buChar char="•"/>
            </a:pPr>
            <a:r>
              <a:rPr lang="en-US" sz="2000" dirty="0">
                <a:latin typeface="Aptos" panose="020B0004020202020204" pitchFamily="34" charset="0"/>
              </a:rPr>
              <a:t>This method fits within an 8 GB VRAM budget. This makes it viable for consumer-grade GPUs.</a:t>
            </a:r>
          </a:p>
          <a:p>
            <a:endParaRPr lang="en-US" sz="2000" dirty="0">
              <a:latin typeface="Aptos" panose="020B0004020202020204" pitchFamily="34" charset="0"/>
            </a:endParaRPr>
          </a:p>
          <a:p>
            <a:pPr marL="285750" indent="-285750">
              <a:buFont typeface="Arial" panose="020B0604020202020204" pitchFamily="34" charset="0"/>
              <a:buChar char="•"/>
            </a:pPr>
            <a:r>
              <a:rPr lang="en-US" sz="2000" b="1" u="sng" dirty="0">
                <a:latin typeface="Aptos" panose="020B0004020202020204" pitchFamily="34" charset="0"/>
              </a:rPr>
              <a:t>Analysis of the Hybrid Advantage</a:t>
            </a:r>
          </a:p>
          <a:p>
            <a:pPr marL="285750" indent="-285750">
              <a:buFont typeface="Arial" panose="020B0604020202020204" pitchFamily="34" charset="0"/>
              <a:buChar char="•"/>
            </a:pPr>
            <a:r>
              <a:rPr lang="en-US" sz="2000" b="1" dirty="0">
                <a:latin typeface="Aptos" panose="020B0004020202020204" pitchFamily="34" charset="0"/>
              </a:rPr>
              <a:t>The Warmup Effect</a:t>
            </a:r>
            <a:r>
              <a:rPr lang="en-US" sz="2000" dirty="0">
                <a:latin typeface="Aptos" panose="020B0004020202020204" pitchFamily="34" charset="0"/>
              </a:rPr>
              <a:t>:</a:t>
            </a:r>
          </a:p>
          <a:p>
            <a:pPr marL="285750" indent="-285750">
              <a:buFont typeface="Arial" panose="020B0604020202020204" pitchFamily="34" charset="0"/>
              <a:buChar char="•"/>
            </a:pPr>
            <a:r>
              <a:rPr lang="en-US" sz="2000" dirty="0">
                <a:latin typeface="Aptos" panose="020B0004020202020204" pitchFamily="34" charset="0"/>
              </a:rPr>
              <a:t>Achieving rapid geometric convergence in just 10 epochs proves that the </a:t>
            </a:r>
            <a:r>
              <a:rPr lang="en-US" sz="2000" dirty="0" err="1">
                <a:latin typeface="Aptos" panose="020B0004020202020204" pitchFamily="34" charset="0"/>
              </a:rPr>
              <a:t>NeRF</a:t>
            </a:r>
            <a:r>
              <a:rPr lang="en-US" sz="2000" dirty="0">
                <a:latin typeface="Aptos" panose="020B0004020202020204" pitchFamily="34" charset="0"/>
              </a:rPr>
              <a:t> scaffold provides a superior starting point compared to random initialization or sparse </a:t>
            </a:r>
            <a:r>
              <a:rPr lang="en-US" sz="2000" dirty="0" err="1">
                <a:latin typeface="Aptos" panose="020B0004020202020204" pitchFamily="34" charset="0"/>
              </a:rPr>
              <a:t>SfM</a:t>
            </a:r>
            <a:r>
              <a:rPr lang="en-US" sz="2000" dirty="0">
                <a:latin typeface="Aptos" panose="020B0004020202020204" pitchFamily="34" charset="0"/>
              </a:rPr>
              <a:t> clouds. The warmup phase is key here.</a:t>
            </a:r>
          </a:p>
        </p:txBody>
      </p:sp>
    </p:spTree>
    <p:extLst>
      <p:ext uri="{BB962C8B-B14F-4D97-AF65-F5344CB8AC3E}">
        <p14:creationId xmlns:p14="http://schemas.microsoft.com/office/powerpoint/2010/main" val="1611225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1D3425-FAED-7C47-D30E-7071EF3E0F4E}"/>
              </a:ext>
            </a:extLst>
          </p:cNvPr>
          <p:cNvSpPr txBox="1"/>
          <p:nvPr/>
        </p:nvSpPr>
        <p:spPr>
          <a:xfrm>
            <a:off x="2057400" y="722376"/>
            <a:ext cx="8933688" cy="3139321"/>
          </a:xfrm>
          <a:prstGeom prst="rect">
            <a:avLst/>
          </a:prstGeom>
          <a:noFill/>
        </p:spPr>
        <p:txBody>
          <a:bodyPr wrap="square" rtlCol="0">
            <a:spAutoFit/>
          </a:bodyPr>
          <a:lstStyle/>
          <a:p>
            <a:pPr marL="342900" indent="-342900">
              <a:buFont typeface="Arial" panose="020B0604020202020204" pitchFamily="34" charset="0"/>
              <a:buChar char="•"/>
            </a:pPr>
            <a:r>
              <a:rPr lang="en-US" sz="2000" b="1" dirty="0">
                <a:latin typeface="Aptos" panose="020B0004020202020204" pitchFamily="34" charset="0"/>
              </a:rPr>
              <a:t>Artifact Suppression</a:t>
            </a:r>
            <a:r>
              <a:rPr lang="en-US" sz="2000" dirty="0">
                <a:latin typeface="Aptos" panose="020B0004020202020204" pitchFamily="34" charset="0"/>
              </a:rPr>
              <a:t>:</a:t>
            </a:r>
          </a:p>
          <a:p>
            <a:pPr marL="342900" indent="-342900">
              <a:buFont typeface="Arial" panose="020B0604020202020204" pitchFamily="34" charset="0"/>
              <a:buChar char="•"/>
            </a:pPr>
            <a:r>
              <a:rPr lang="en-US" sz="2000" dirty="0">
                <a:latin typeface="Aptos" panose="020B0004020202020204" pitchFamily="34" charset="0"/>
              </a:rPr>
              <a:t>By enforcing the sigma than 15.0 and alpha less than 0.05 thresholds you have solved the "floater" problem that plagues vanilla 3DGS. This results in transparency. Artifact suppression is crucial for results.*</a:t>
            </a:r>
          </a:p>
          <a:p>
            <a:pPr marL="342900" indent="-342900">
              <a:buFont typeface="Arial" panose="020B0604020202020204" pitchFamily="34" charset="0"/>
              <a:buChar char="•"/>
            </a:pPr>
            <a:endParaRPr lang="en-US" sz="2000" dirty="0">
              <a:latin typeface="Aptos" panose="020B0004020202020204" pitchFamily="34" charset="0"/>
            </a:endParaRPr>
          </a:p>
          <a:p>
            <a:pPr marL="342900" indent="-342900">
              <a:buFont typeface="Arial" panose="020B0604020202020204" pitchFamily="34" charset="0"/>
              <a:buChar char="•"/>
            </a:pPr>
            <a:r>
              <a:rPr lang="en-US" sz="2000" dirty="0">
                <a:latin typeface="Aptos" panose="020B0004020202020204" pitchFamily="34" charset="0"/>
              </a:rPr>
              <a:t> </a:t>
            </a:r>
            <a:r>
              <a:rPr lang="en-US" sz="2000" b="1" dirty="0">
                <a:latin typeface="Aptos" panose="020B0004020202020204" pitchFamily="34" charset="0"/>
              </a:rPr>
              <a:t>Data Resilience</a:t>
            </a:r>
            <a:r>
              <a:rPr lang="en-US" sz="2000" dirty="0">
                <a:latin typeface="Aptos" panose="020B0004020202020204" pitchFamily="34" charset="0"/>
              </a:rPr>
              <a:t>:</a:t>
            </a:r>
          </a:p>
          <a:p>
            <a:pPr marL="342900" indent="-342900">
              <a:buFont typeface="Arial" panose="020B0604020202020204" pitchFamily="34" charset="0"/>
              <a:buChar char="•"/>
            </a:pPr>
            <a:r>
              <a:rPr lang="en-US" sz="2000" dirty="0">
                <a:latin typeface="Aptos" panose="020B0004020202020204" pitchFamily="34" charset="0"/>
              </a:rPr>
              <a:t>The Laplacian variance filter acts as a gatekeeper. It ensures that motion-blurred frames do not degrade the 3D geometry. The Laplacian variance filter is important, for data resilience</a:t>
            </a:r>
            <a:endParaRPr lang="en-IN" sz="2000" dirty="0">
              <a:latin typeface="Aptos" panose="020B0004020202020204" pitchFamily="34" charset="0"/>
            </a:endParaRPr>
          </a:p>
          <a:p>
            <a:endParaRPr lang="en-IN" dirty="0"/>
          </a:p>
        </p:txBody>
      </p:sp>
    </p:spTree>
    <p:extLst>
      <p:ext uri="{BB962C8B-B14F-4D97-AF65-F5344CB8AC3E}">
        <p14:creationId xmlns:p14="http://schemas.microsoft.com/office/powerpoint/2010/main" val="1496934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7EFCC0-3FB2-AF58-5D86-22AEBBF9D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9564" y="1203767"/>
            <a:ext cx="5169048" cy="4184247"/>
          </a:xfrm>
          <a:prstGeom prst="rect">
            <a:avLst/>
          </a:prstGeom>
        </p:spPr>
      </p:pic>
      <p:pic>
        <p:nvPicPr>
          <p:cNvPr id="5" name="Picture 4">
            <a:extLst>
              <a:ext uri="{FF2B5EF4-FFF2-40B4-BE49-F238E27FC236}">
                <a16:creationId xmlns:a16="http://schemas.microsoft.com/office/drawing/2014/main" id="{C5CFE50F-FB3F-4602-59C4-8E8F80EE5A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9682" y="1203766"/>
            <a:ext cx="5149139" cy="4184247"/>
          </a:xfrm>
          <a:prstGeom prst="rect">
            <a:avLst/>
          </a:prstGeom>
        </p:spPr>
      </p:pic>
      <p:sp>
        <p:nvSpPr>
          <p:cNvPr id="6" name="TextBox 5">
            <a:extLst>
              <a:ext uri="{FF2B5EF4-FFF2-40B4-BE49-F238E27FC236}">
                <a16:creationId xmlns:a16="http://schemas.microsoft.com/office/drawing/2014/main" id="{C223CCB5-6DE9-6E7D-0820-1A1C1641B8D2}"/>
              </a:ext>
            </a:extLst>
          </p:cNvPr>
          <p:cNvSpPr txBox="1"/>
          <p:nvPr/>
        </p:nvSpPr>
        <p:spPr>
          <a:xfrm>
            <a:off x="1956122" y="393539"/>
            <a:ext cx="6643868" cy="584775"/>
          </a:xfrm>
          <a:prstGeom prst="rect">
            <a:avLst/>
          </a:prstGeom>
          <a:noFill/>
        </p:spPr>
        <p:txBody>
          <a:bodyPr wrap="square" rtlCol="0">
            <a:spAutoFit/>
          </a:bodyPr>
          <a:lstStyle/>
          <a:p>
            <a:r>
              <a:rPr lang="en-IN" sz="3200" b="1" dirty="0">
                <a:latin typeface="Aptos" panose="020B0004020202020204" pitchFamily="34" charset="0"/>
              </a:rPr>
              <a:t>USER INTERFACE</a:t>
            </a:r>
          </a:p>
        </p:txBody>
      </p:sp>
    </p:spTree>
    <p:extLst>
      <p:ext uri="{BB962C8B-B14F-4D97-AF65-F5344CB8AC3E}">
        <p14:creationId xmlns:p14="http://schemas.microsoft.com/office/powerpoint/2010/main" val="1910866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D4F3E9-A199-3071-C950-DF9AA1B3E3EB}"/>
              </a:ext>
            </a:extLst>
          </p:cNvPr>
          <p:cNvSpPr txBox="1"/>
          <p:nvPr/>
        </p:nvSpPr>
        <p:spPr>
          <a:xfrm>
            <a:off x="1984248" y="437127"/>
            <a:ext cx="6044184" cy="646331"/>
          </a:xfrm>
          <a:prstGeom prst="rect">
            <a:avLst/>
          </a:prstGeom>
          <a:noFill/>
        </p:spPr>
        <p:txBody>
          <a:bodyPr wrap="square" rtlCol="0">
            <a:spAutoFit/>
          </a:bodyPr>
          <a:lstStyle/>
          <a:p>
            <a:r>
              <a:rPr lang="en-US" sz="3600" b="1" u="sng" dirty="0">
                <a:latin typeface="Aptos" panose="020B0004020202020204" pitchFamily="34" charset="0"/>
              </a:rPr>
              <a:t>CONCLUSION</a:t>
            </a:r>
            <a:endParaRPr lang="en-IN" sz="3600" b="1" u="sng" dirty="0">
              <a:latin typeface="Aptos" panose="020B0004020202020204" pitchFamily="34" charset="0"/>
            </a:endParaRPr>
          </a:p>
        </p:txBody>
      </p:sp>
      <p:sp>
        <p:nvSpPr>
          <p:cNvPr id="3" name="TextBox 2">
            <a:extLst>
              <a:ext uri="{FF2B5EF4-FFF2-40B4-BE49-F238E27FC236}">
                <a16:creationId xmlns:a16="http://schemas.microsoft.com/office/drawing/2014/main" id="{CD04EBF3-8B30-BC2E-DC3B-3E7A2CAD3E34}"/>
              </a:ext>
            </a:extLst>
          </p:cNvPr>
          <p:cNvSpPr txBox="1"/>
          <p:nvPr/>
        </p:nvSpPr>
        <p:spPr>
          <a:xfrm>
            <a:off x="1837944" y="1298448"/>
            <a:ext cx="10003536" cy="1323439"/>
          </a:xfrm>
          <a:prstGeom prst="rect">
            <a:avLst/>
          </a:prstGeom>
          <a:noFill/>
        </p:spPr>
        <p:txBody>
          <a:bodyPr wrap="square" rtlCol="0">
            <a:spAutoFit/>
          </a:bodyPr>
          <a:lstStyle/>
          <a:p>
            <a:r>
              <a:rPr lang="en-US" sz="2000" dirty="0">
                <a:latin typeface="Aptos" panose="020B0004020202020204" pitchFamily="34" charset="0"/>
              </a:rPr>
              <a:t>By bridging the gap between implicit neural consistency and explicit rasterization speed, </a:t>
            </a:r>
            <a:r>
              <a:rPr lang="en-US" sz="2000" dirty="0" err="1">
                <a:latin typeface="Aptos" panose="020B0004020202020204" pitchFamily="34" charset="0"/>
              </a:rPr>
              <a:t>Gausfer</a:t>
            </a:r>
            <a:r>
              <a:rPr lang="en-US" sz="2000" dirty="0">
                <a:latin typeface="Aptos" panose="020B0004020202020204" pitchFamily="34" charset="0"/>
              </a:rPr>
              <a:t> 3D transforms static 2D snapshots into living digital architectures, paving the way for a future where high-fidelity 3D world-building is as accessible as a single click of a shutter."</a:t>
            </a:r>
            <a:endParaRPr lang="en-IN" sz="2000" dirty="0">
              <a:latin typeface="Aptos" panose="020B0004020202020204" pitchFamily="34" charset="0"/>
            </a:endParaRPr>
          </a:p>
        </p:txBody>
      </p:sp>
    </p:spTree>
    <p:extLst>
      <p:ext uri="{BB962C8B-B14F-4D97-AF65-F5344CB8AC3E}">
        <p14:creationId xmlns:p14="http://schemas.microsoft.com/office/powerpoint/2010/main" val="38520741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362</TotalTime>
  <Words>1918</Words>
  <Application>Microsoft Office PowerPoint</Application>
  <PresentationFormat>Widescreen</PresentationFormat>
  <Paragraphs>193</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Corbel</vt:lpstr>
      <vt:lpstr>Times New Roman</vt:lpstr>
      <vt:lpstr>Urbanist</vt:lpstr>
      <vt:lpstr>Wingdings</vt:lpstr>
      <vt:lpstr>Parallax</vt:lpstr>
      <vt:lpstr>GAUSFER 3D : From Flat Pixels to Immersive Reality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ASWIN S TUSHAR</dc:creator>
  <cp:lastModifiedBy>Amal S Kumar</cp:lastModifiedBy>
  <cp:revision>4</cp:revision>
  <dcterms:created xsi:type="dcterms:W3CDTF">2026-03-23T13:41:14Z</dcterms:created>
  <dcterms:modified xsi:type="dcterms:W3CDTF">2026-04-13T16:56:58Z</dcterms:modified>
</cp:coreProperties>
</file>